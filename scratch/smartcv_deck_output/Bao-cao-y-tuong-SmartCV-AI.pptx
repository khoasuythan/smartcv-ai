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  Chào thầy cô. Nhóm xin trình bày dự định nghiên cứu khung AI đa mô hình chạy cục bộ, kế thừa nền tảng SmartCV AI. Bài nói gồm vấn đề, cách làm, đầu ra và lộ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0:25–1:05  |  Nêu ngắn gọn bốn điểm nghẽn. Mục tiêu nghiên cứu là xây dựng và đánh giá ba mô-đun, chứ không chỉ thêm chatbot vào web. Hướng xử lý nội bộ giúp nhóm kiểm soát dữ liệu 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1:05–1:45  |  Đi qua quy trình từ CV và JD đến ba chức năng. Matcher dùng embedding để lọc nhanh; mô hình ngôn ngữ cục bộ phân tích hồ sơ và tạo đối thoại STAR. Các module phối hợp trong SmartCV.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1:45–2:30  |  Phân biệt rõ phần hệ thống đang có với phần cần nghiên cứu. Không trình bày mô hình hoặc phần cứng dự kiến như đã hoàn thành. Việc đánh giá gồm chất lượng xếp hạng, độ nhất quán chấm điểm và chất lượng hội thoại.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2:30–3:05  |  Nêu đầu ra cụ thể gồm phần mềm, dữ liệu/mô hình, báo cáo thực nghiệm và tài liệu nghiên cứu. Các con số mục tiêu chỉ được báo cáo sau khi đo, không cam kết trước như kết quả đạt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3:05–3:45  |  Lộ trình chia bốn chặng trong 12 tuần. Phân công nhóm theo đầu việc để dễ theo dõi; ở giai đoạn tích hợp, cả nhóm kiểm tra luồng liên thông.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3:45–5:00  |  Chốt lại ba chức năng và xin góp ý về phạm vi, dữ liệu, phần cứng. Dành khoảng 75 giây còn lại cho phần trao đổi nếu thầy cô hỏi ngay sau phần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Meet" Type="http://schemas.openxmlformats.org/officeDocument/2006/relationships/hyperlink" Target="https://meet.google.com/bzx-nroy-ti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730"/>
        </a:solidFill>
      </p:bgPr>
    </p:bg>
    <p:spTree>
      <p:nvGrpSpPr>
        <p:cNvPr id="1" name=""/>
        <p:cNvGrpSpPr/>
        <p:nvPr/>
      </p:nvGrpSpPr>
      <p:grpSpPr>
        <a:xfrm>
          <a:off x="0" y="0"/>
          <a:ext cx="0" cy="0"/>
          <a:chOff x="0" y="0"/>
          <a:chExt cx="0" cy="0"/>
        </a:xfrm>
      </p:grpSpPr>
      <p:sp>
        <p:nvSpPr>
          <p:cNvPr id="2" name="Shape 0"/>
          <p:cNvSpPr/>
          <p:nvPr/>
        </p:nvSpPr>
        <p:spPr>
          <a:xfrm>
            <a:off x="0" y="0"/>
            <a:ext cx="171450" cy="71438"/>
          </a:xfrm>
          <a:prstGeom prst="rect">
            <a:avLst/>
          </a:prstGeom>
          <a:solidFill>
            <a:srgbClr val="42C7D9"/>
          </a:solidFill>
          <a:ln w="12700">
            <a:solidFill>
              <a:srgbClr val="FFFFFF">
                <a:alpha val="0"/>
              </a:srgbClr>
            </a:solidFill>
            <a:prstDash val="solid"/>
          </a:ln>
        </p:spPr>
      </p:sp>
      <p:sp>
        <p:nvSpPr>
          <p:cNvPr id="3" name="Shape 1"/>
          <p:cNvSpPr/>
          <p:nvPr/>
        </p:nvSpPr>
        <p:spPr>
          <a:xfrm>
            <a:off x="723900" y="685800"/>
            <a:ext cx="838200" cy="57150"/>
          </a:xfrm>
          <a:prstGeom prst="rect">
            <a:avLst/>
          </a:prstGeom>
          <a:solidFill>
            <a:srgbClr val="42C7D9"/>
          </a:solidFill>
          <a:ln w="12700">
            <a:solidFill>
              <a:srgbClr val="FFFFFF">
                <a:alpha val="0"/>
              </a:srgbClr>
            </a:solidFill>
            <a:prstDash val="solid"/>
          </a:ln>
        </p:spPr>
      </p:sp>
      <p:sp>
        <p:nvSpPr>
          <p:cNvPr id="4" name="Text 2"/>
          <p:cNvSpPr/>
          <p:nvPr/>
        </p:nvSpPr>
        <p:spPr>
          <a:xfrm>
            <a:off x="723900" y="971550"/>
            <a:ext cx="8191500" cy="247650"/>
          </a:xfrm>
          <a:prstGeom prst="rect">
            <a:avLst/>
          </a:prstGeom>
          <a:noFill/>
          <a:ln/>
        </p:spPr>
        <p:txBody>
          <a:bodyPr wrap="square" lIns="0" tIns="0" rIns="0" bIns="0" rtlCol="0" anchor="t">
            <a:normAutofit/>
          </a:bodyPr>
          <a:lstStyle/>
          <a:p>
            <a:pPr algn="l" indent="0" marL="0">
              <a:buNone/>
            </a:pPr>
            <a:r>
              <a:rPr lang="en-US" sz="1200" b="1" dirty="0">
                <a:solidFill>
                  <a:srgbClr val="A9C5E2"/>
                </a:solidFill>
                <a:latin typeface="Arial" pitchFamily="34" charset="0"/>
                <a:ea typeface="Arial" pitchFamily="34" charset="-122"/>
                <a:cs typeface="Arial" pitchFamily="34" charset="-120"/>
              </a:rPr>
              <a:t>BÁO CÁO Ý TƯỞNG NGHIÊN CỨU KHOA HỌC</a:t>
            </a:r>
            <a:endParaRPr lang="en-US" sz="1200" dirty="0"/>
          </a:p>
        </p:txBody>
      </p:sp>
      <p:sp>
        <p:nvSpPr>
          <p:cNvPr id="5" name="Text 3"/>
          <p:cNvSpPr/>
          <p:nvPr/>
        </p:nvSpPr>
        <p:spPr>
          <a:xfrm>
            <a:off x="723900" y="1543050"/>
            <a:ext cx="7620000" cy="857250"/>
          </a:xfrm>
          <a:prstGeom prst="rect">
            <a:avLst/>
          </a:prstGeom>
          <a:noFill/>
          <a:ln/>
        </p:spPr>
        <p:txBody>
          <a:bodyPr wrap="square" lIns="0" tIns="0" rIns="0" bIns="0" rtlCol="0" anchor="t">
            <a:normAutofit/>
          </a:bodyPr>
          <a:lstStyle/>
          <a:p>
            <a:pPr algn="l" indent="0" marL="0">
              <a:buNone/>
            </a:pPr>
            <a:r>
              <a:rPr lang="en-US" sz="4350" b="1" dirty="0">
                <a:solidFill>
                  <a:srgbClr val="FFFFFF"/>
                </a:solidFill>
                <a:latin typeface="Arial" pitchFamily="34" charset="0"/>
                <a:ea typeface="Arial" pitchFamily="34" charset="-122"/>
                <a:cs typeface="Arial" pitchFamily="34" charset="-120"/>
              </a:rPr>
              <a:t>SMARTCV AI</a:t>
            </a:r>
            <a:endParaRPr lang="en-US" sz="4350" dirty="0"/>
          </a:p>
        </p:txBody>
      </p:sp>
      <p:sp>
        <p:nvSpPr>
          <p:cNvPr id="6" name="Text 4"/>
          <p:cNvSpPr/>
          <p:nvPr/>
        </p:nvSpPr>
        <p:spPr>
          <a:xfrm>
            <a:off x="723900" y="2533650"/>
            <a:ext cx="7239000" cy="1238250"/>
          </a:xfrm>
          <a:prstGeom prst="rect">
            <a:avLst/>
          </a:prstGeom>
          <a:noFill/>
          <a:ln/>
        </p:spPr>
        <p:txBody>
          <a:bodyPr wrap="square" lIns="0" tIns="0" rIns="0" bIns="0" rtlCol="0" anchor="t">
            <a:normAutofit/>
          </a:bodyPr>
          <a:lstStyle/>
          <a:p>
            <a:pPr algn="l" indent="0" marL="0">
              <a:buNone/>
            </a:pPr>
            <a:r>
              <a:rPr lang="en-US" sz="2850" b="1" dirty="0">
                <a:solidFill>
                  <a:srgbClr val="FFFFFF"/>
                </a:solidFill>
                <a:latin typeface="Arial" pitchFamily="34" charset="0"/>
                <a:ea typeface="Arial" pitchFamily="34" charset="-122"/>
                <a:cs typeface="Arial" pitchFamily="34" charset="-120"/>
              </a:rPr>
              <a:t>Khung AI đa mô hình chạy cục bộ</a:t>
            </a:r>
            <a:endParaRPr lang="en-US" sz="2850" dirty="0"/>
          </a:p>
          <a:p>
            <a:pPr algn="l" indent="0" marL="0">
              <a:buNone/>
            </a:pPr>
            <a:r>
              <a:rPr lang="en-US" sz="2850" b="1" dirty="0">
                <a:solidFill>
                  <a:srgbClr val="FFFFFF"/>
                </a:solidFill>
                <a:latin typeface="Arial" pitchFamily="34" charset="0"/>
                <a:ea typeface="Arial" pitchFamily="34" charset="-122"/>
                <a:cs typeface="Arial" pitchFamily="34" charset="-120"/>
              </a:rPr>
              <a:t>cho tuyển dụng thông minh</a:t>
            </a:r>
            <a:endParaRPr lang="en-US" sz="2850" dirty="0"/>
          </a:p>
        </p:txBody>
      </p:sp>
      <p:sp>
        <p:nvSpPr>
          <p:cNvPr id="7" name="Text 5"/>
          <p:cNvSpPr/>
          <p:nvPr/>
        </p:nvSpPr>
        <p:spPr>
          <a:xfrm>
            <a:off x="742950" y="4095750"/>
            <a:ext cx="8858250" cy="361950"/>
          </a:xfrm>
          <a:prstGeom prst="rect">
            <a:avLst/>
          </a:prstGeom>
          <a:noFill/>
          <a:ln/>
        </p:spPr>
        <p:txBody>
          <a:bodyPr wrap="square" lIns="0" tIns="0" rIns="0" bIns="0" rtlCol="0" anchor="t">
            <a:normAutofit/>
          </a:bodyPr>
          <a:lstStyle/>
          <a:p>
            <a:pPr algn="l" indent="0" marL="0">
              <a:buNone/>
            </a:pPr>
            <a:r>
              <a:rPr lang="en-US" sz="1500" dirty="0">
                <a:solidFill>
                  <a:srgbClr val="B9C9DB"/>
                </a:solidFill>
                <a:latin typeface="Arial" pitchFamily="34" charset="0"/>
                <a:ea typeface="Arial" pitchFamily="34" charset="-122"/>
                <a:cs typeface="Arial" pitchFamily="34" charset="-120"/>
              </a:rPr>
              <a:t>Lọc CV theo ngữ nghĩa  ·  Đánh giá hồ sơ  ·  Phỏng vấn thử STAR</a:t>
            </a:r>
            <a:endParaRPr lang="en-US" sz="1500" dirty="0"/>
          </a:p>
        </p:txBody>
      </p:sp>
      <p:sp>
        <p:nvSpPr>
          <p:cNvPr id="8" name="Shape 6"/>
          <p:cNvSpPr/>
          <p:nvPr/>
        </p:nvSpPr>
        <p:spPr>
          <a:xfrm>
            <a:off x="742950" y="4838700"/>
            <a:ext cx="6381750" cy="0"/>
          </a:xfrm>
          <a:prstGeom prst="line">
            <a:avLst/>
          </a:prstGeom>
          <a:solidFill>
            <a:srgbClr val="FFFFFF">
              <a:alpha val="0"/>
            </a:srgbClr>
          </a:solidFill>
          <a:ln w="132">
            <a:solidFill>
              <a:srgbClr val="36506F"/>
            </a:solidFill>
            <a:prstDash val="solid"/>
          </a:ln>
        </p:spPr>
      </p:sp>
      <p:sp>
        <p:nvSpPr>
          <p:cNvPr id="9" name="Text 7"/>
          <p:cNvSpPr/>
          <p:nvPr/>
        </p:nvSpPr>
        <p:spPr>
          <a:xfrm>
            <a:off x="742950" y="5162550"/>
            <a:ext cx="1714500" cy="171450"/>
          </a:xfrm>
          <a:prstGeom prst="rect">
            <a:avLst/>
          </a:prstGeom>
          <a:noFill/>
          <a:ln/>
        </p:spPr>
        <p:txBody>
          <a:bodyPr wrap="square" lIns="0" tIns="0" rIns="0" bIns="0" rtlCol="0" anchor="t">
            <a:normAutofit/>
          </a:bodyPr>
          <a:lstStyle/>
          <a:p>
            <a:pPr algn="l" indent="0" marL="0">
              <a:buNone/>
            </a:pPr>
            <a:r>
              <a:rPr lang="en-US" sz="975" b="1" dirty="0">
                <a:solidFill>
                  <a:srgbClr val="8CA7C5"/>
                </a:solidFill>
                <a:latin typeface="Arial" pitchFamily="34" charset="0"/>
                <a:ea typeface="Arial" pitchFamily="34" charset="-122"/>
                <a:cs typeface="Arial" pitchFamily="34" charset="-120"/>
              </a:rPr>
              <a:t>CHỦ NHIỆM</a:t>
            </a:r>
            <a:endParaRPr lang="en-US" sz="975" dirty="0"/>
          </a:p>
        </p:txBody>
      </p:sp>
      <p:sp>
        <p:nvSpPr>
          <p:cNvPr id="10" name="Text 8"/>
          <p:cNvSpPr/>
          <p:nvPr/>
        </p:nvSpPr>
        <p:spPr>
          <a:xfrm>
            <a:off x="742950" y="5391150"/>
            <a:ext cx="3333750" cy="285750"/>
          </a:xfrm>
          <a:prstGeom prst="rect">
            <a:avLst/>
          </a:prstGeom>
          <a:noFill/>
          <a:ln/>
        </p:spPr>
        <p:txBody>
          <a:bodyPr wrap="square" lIns="0" tIns="0" rIns="0" bIns="0" rtlCol="0" anchor="t">
            <a:normAutofit/>
          </a:bodyPr>
          <a:lstStyle/>
          <a:p>
            <a:pPr algn="l" indent="0" marL="0">
              <a:buNone/>
            </a:pPr>
            <a:r>
              <a:rPr lang="en-US" sz="1575" b="1" dirty="0">
                <a:solidFill>
                  <a:srgbClr val="FFFFFF"/>
                </a:solidFill>
                <a:latin typeface="Arial" pitchFamily="34" charset="0"/>
                <a:ea typeface="Arial" pitchFamily="34" charset="-122"/>
                <a:cs typeface="Arial" pitchFamily="34" charset="-120"/>
              </a:rPr>
              <a:t>Nguyễn Võ Lê Khoa</a:t>
            </a:r>
            <a:endParaRPr lang="en-US" sz="1575" dirty="0"/>
          </a:p>
        </p:txBody>
      </p:sp>
      <p:sp>
        <p:nvSpPr>
          <p:cNvPr id="11" name="Text 9"/>
          <p:cNvSpPr/>
          <p:nvPr/>
        </p:nvSpPr>
        <p:spPr>
          <a:xfrm>
            <a:off x="4476750" y="5162550"/>
            <a:ext cx="1714500" cy="171450"/>
          </a:xfrm>
          <a:prstGeom prst="rect">
            <a:avLst/>
          </a:prstGeom>
          <a:noFill/>
          <a:ln/>
        </p:spPr>
        <p:txBody>
          <a:bodyPr wrap="square" lIns="0" tIns="0" rIns="0" bIns="0" rtlCol="0" anchor="t">
            <a:normAutofit/>
          </a:bodyPr>
          <a:lstStyle/>
          <a:p>
            <a:pPr algn="l" indent="0" marL="0">
              <a:buNone/>
            </a:pPr>
            <a:r>
              <a:rPr lang="en-US" sz="975" b="1" dirty="0">
                <a:solidFill>
                  <a:srgbClr val="8CA7C5"/>
                </a:solidFill>
                <a:latin typeface="Arial" pitchFamily="34" charset="0"/>
                <a:ea typeface="Arial" pitchFamily="34" charset="-122"/>
                <a:cs typeface="Arial" pitchFamily="34" charset="-120"/>
              </a:rPr>
              <a:t>THÀNH VIÊN</a:t>
            </a:r>
            <a:endParaRPr lang="en-US" sz="975" dirty="0"/>
          </a:p>
        </p:txBody>
      </p:sp>
      <p:sp>
        <p:nvSpPr>
          <p:cNvPr id="12" name="Text 10"/>
          <p:cNvSpPr/>
          <p:nvPr/>
        </p:nvSpPr>
        <p:spPr>
          <a:xfrm>
            <a:off x="4476750" y="5391150"/>
            <a:ext cx="5810250" cy="514350"/>
          </a:xfrm>
          <a:prstGeom prst="rect">
            <a:avLst/>
          </a:prstGeom>
          <a:noFill/>
          <a:ln/>
        </p:spPr>
        <p:txBody>
          <a:bodyPr wrap="square" lIns="0" tIns="0" rIns="0" bIns="0" rtlCol="0" anchor="t">
            <a:normAutofit/>
          </a:bodyPr>
          <a:lstStyle/>
          <a:p>
            <a:pPr algn="l" indent="0" marL="0">
              <a:buNone/>
            </a:pPr>
            <a:r>
              <a:rPr lang="en-US" sz="1275" dirty="0">
                <a:solidFill>
                  <a:srgbClr val="FFFFFF"/>
                </a:solidFill>
                <a:latin typeface="Arial" pitchFamily="34" charset="0"/>
                <a:ea typeface="Arial" pitchFamily="34" charset="-122"/>
                <a:cs typeface="Arial" pitchFamily="34" charset="-120"/>
              </a:rPr>
              <a:t>Trần Thanh Hiệp  ·  Nguyễn Thành Nhất Nam</a:t>
            </a:r>
            <a:endParaRPr lang="en-US" sz="1275" dirty="0"/>
          </a:p>
          <a:p>
            <a:pPr algn="l" indent="0" marL="0">
              <a:buNone/>
            </a:pPr>
            <a:r>
              <a:rPr lang="en-US" sz="1275" dirty="0">
                <a:solidFill>
                  <a:srgbClr val="FFFFFF"/>
                </a:solidFill>
                <a:latin typeface="Arial" pitchFamily="34" charset="0"/>
                <a:ea typeface="Arial" pitchFamily="34" charset="-122"/>
                <a:cs typeface="Arial" pitchFamily="34" charset="-120"/>
              </a:rPr>
              <a:t>Trần Đức Huy</a:t>
            </a:r>
            <a:endParaRPr lang="en-US" sz="1275" dirty="0"/>
          </a:p>
        </p:txBody>
      </p:sp>
      <p:sp>
        <p:nvSpPr>
          <p:cNvPr id="13" name="Text 11"/>
          <p:cNvSpPr/>
          <p:nvPr/>
        </p:nvSpPr>
        <p:spPr>
          <a:xfrm>
            <a:off x="742950" y="6229350"/>
            <a:ext cx="6667500" cy="228600"/>
          </a:xfrm>
          <a:prstGeom prst="rect">
            <a:avLst/>
          </a:prstGeom>
          <a:noFill/>
          <a:ln/>
        </p:spPr>
        <p:txBody>
          <a:bodyPr wrap="square" lIns="0" tIns="0" rIns="0" bIns="0" rtlCol="0" anchor="t">
            <a:normAutofit/>
          </a:bodyPr>
          <a:lstStyle/>
          <a:p>
            <a:pPr algn="l" indent="0" marL="0">
              <a:buNone/>
            </a:pPr>
            <a:r>
              <a:rPr lang="en-US" sz="1200" b="1" dirty="0">
                <a:solidFill>
                  <a:srgbClr val="A9C5E2"/>
                </a:solidFill>
                <a:latin typeface="Arial" pitchFamily="34" charset="0"/>
                <a:ea typeface="Arial" pitchFamily="34" charset="-122"/>
                <a:cs typeface="Arial" pitchFamily="34" charset="-120"/>
              </a:rPr>
              <a:t>18.10.2026  ·  19:00  ·  Google Meet</a:t>
            </a:r>
            <a:endParaRPr lang="en-US" sz="1200" dirty="0"/>
          </a:p>
        </p:txBody>
      </p:sp>
      <p:sp>
        <p:nvSpPr>
          <p:cNvPr id="14" name="Text 12"/>
          <p:cNvSpPr/>
          <p:nvPr/>
        </p:nvSpPr>
        <p:spPr>
          <a:xfrm>
            <a:off x="8210550" y="6248400"/>
            <a:ext cx="3257550" cy="190500"/>
          </a:xfrm>
          <a:prstGeom prst="rect">
            <a:avLst/>
          </a:prstGeom>
          <a:noFill/>
          <a:ln/>
        </p:spPr>
        <p:txBody>
          <a:bodyPr wrap="square" lIns="0" tIns="0" rIns="0" bIns="0" rtlCol="0" anchor="t">
            <a:normAutofit/>
          </a:bodyPr>
          <a:lstStyle/>
          <a:p>
            <a:pPr algn="r" indent="0" marL="0">
              <a:buNone/>
            </a:pPr>
            <a:r>
              <a:rPr lang="en-US" sz="1050" dirty="0">
                <a:solidFill>
                  <a:srgbClr val="42C7D9"/>
                </a:solidFill>
                <a:latin typeface="Arial" pitchFamily="34" charset="0"/>
                <a:ea typeface="Arial" pitchFamily="34" charset="-122"/>
                <a:cs typeface="Arial" pitchFamily="34" charset="-120"/>
                <a:hlinkClick r:id="rIdMeet"/>
                <a:hlinkClick r:id="rIdMeet"/>
              </a:rPr>
              <a:t>meet.google.com/bzx-nroy-tig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6997" cy="95250"/>
          </a:xfrm>
          <a:prstGeom prst="rect">
            <a:avLst/>
          </a:prstGeom>
          <a:solidFill>
            <a:srgbClr val="42C7D9"/>
          </a:solidFill>
          <a:ln w="12700">
            <a:solidFill>
              <a:srgbClr val="FFFFFF">
                <a:alpha val="0"/>
              </a:srgbClr>
            </a:solidFill>
            <a:prstDash val="solid"/>
          </a:ln>
        </p:spPr>
      </p:sp>
      <p:sp>
        <p:nvSpPr>
          <p:cNvPr id="3" name="Text 1"/>
          <p:cNvSpPr/>
          <p:nvPr/>
        </p:nvSpPr>
        <p:spPr>
          <a:xfrm>
            <a:off x="723900" y="361950"/>
            <a:ext cx="6096000" cy="228600"/>
          </a:xfrm>
          <a:prstGeom prst="rect">
            <a:avLst/>
          </a:prstGeom>
          <a:noFill/>
          <a:ln/>
        </p:spPr>
        <p:txBody>
          <a:bodyPr wrap="square" lIns="0" tIns="0" rIns="0" bIns="0" rtlCol="0" anchor="t">
            <a:normAutofit/>
          </a:bodyPr>
          <a:lstStyle/>
          <a:p>
            <a:pPr algn="l" indent="0" marL="0">
              <a:buNone/>
            </a:pPr>
            <a:r>
              <a:rPr lang="en-US" sz="1050" b="1" dirty="0">
                <a:solidFill>
                  <a:srgbClr val="2563EB"/>
                </a:solidFill>
                <a:latin typeface="Arial" pitchFamily="34" charset="0"/>
                <a:ea typeface="Arial" pitchFamily="34" charset="-122"/>
                <a:cs typeface="Arial" pitchFamily="34" charset="-120"/>
              </a:rPr>
              <a:t>VẤN ĐỀ &amp; MỤC TIÊU</a:t>
            </a:r>
            <a:endParaRPr lang="en-US" sz="1050" dirty="0"/>
          </a:p>
        </p:txBody>
      </p:sp>
      <p:sp>
        <p:nvSpPr>
          <p:cNvPr id="4" name="Text 2"/>
          <p:cNvSpPr/>
          <p:nvPr/>
        </p:nvSpPr>
        <p:spPr>
          <a:xfrm>
            <a:off x="723900" y="685800"/>
            <a:ext cx="10744200" cy="571500"/>
          </a:xfrm>
          <a:prstGeom prst="rect">
            <a:avLst/>
          </a:prstGeom>
          <a:noFill/>
          <a:ln/>
        </p:spPr>
        <p:txBody>
          <a:bodyPr wrap="square" lIns="0" tIns="0" rIns="0" bIns="0" rtlCol="0" anchor="t">
            <a:normAutofit/>
          </a:bodyPr>
          <a:lstStyle/>
          <a:p>
            <a:pPr algn="l" indent="0" marL="0">
              <a:buNone/>
            </a:pPr>
            <a:r>
              <a:rPr lang="en-US" sz="2550" b="1" dirty="0">
                <a:solidFill>
                  <a:srgbClr val="0B1730"/>
                </a:solidFill>
                <a:latin typeface="Arial" pitchFamily="34" charset="0"/>
                <a:ea typeface="Arial" pitchFamily="34" charset="-122"/>
                <a:cs typeface="Arial" pitchFamily="34" charset="-120"/>
              </a:rPr>
              <a:t>Bài toán tuyển dụng và mục tiêu nghiên cứu</a:t>
            </a:r>
            <a:endParaRPr lang="en-US" sz="2550" dirty="0"/>
          </a:p>
        </p:txBody>
      </p:sp>
      <p:sp>
        <p:nvSpPr>
          <p:cNvPr id="5" name="Shape 3"/>
          <p:cNvSpPr/>
          <p:nvPr/>
        </p:nvSpPr>
        <p:spPr>
          <a:xfrm>
            <a:off x="723900" y="1390650"/>
            <a:ext cx="10744200" cy="0"/>
          </a:xfrm>
          <a:prstGeom prst="line">
            <a:avLst/>
          </a:prstGeom>
          <a:solidFill>
            <a:srgbClr val="FFFFFF">
              <a:alpha val="0"/>
            </a:srgbClr>
          </a:solidFill>
          <a:ln w="132">
            <a:solidFill>
              <a:srgbClr val="D8E2EE"/>
            </a:solidFill>
            <a:prstDash val="solid"/>
          </a:ln>
        </p:spPr>
      </p:sp>
      <p:sp>
        <p:nvSpPr>
          <p:cNvPr id="6" name="Text 4"/>
          <p:cNvSpPr/>
          <p:nvPr/>
        </p:nvSpPr>
        <p:spPr>
          <a:xfrm>
            <a:off x="723900" y="6496050"/>
            <a:ext cx="5715000" cy="171450"/>
          </a:xfrm>
          <a:prstGeom prst="rect">
            <a:avLst/>
          </a:prstGeom>
          <a:noFill/>
          <a:ln/>
        </p:spPr>
        <p:txBody>
          <a:bodyPr wrap="square" lIns="0" tIns="0" rIns="0" bIns="0" rtlCol="0" anchor="t">
            <a:normAutofit/>
          </a:bodyPr>
          <a:lstStyle/>
          <a:p>
            <a:pPr algn="l" indent="0" marL="0">
              <a:buNone/>
            </a:pPr>
            <a:r>
              <a:rPr lang="en-US" sz="900" b="1" dirty="0">
                <a:solidFill>
                  <a:srgbClr val="54657A"/>
                </a:solidFill>
                <a:latin typeface="Arial" pitchFamily="34" charset="0"/>
                <a:ea typeface="Arial" pitchFamily="34" charset="-122"/>
                <a:cs typeface="Arial" pitchFamily="34" charset="-120"/>
              </a:rPr>
              <a:t>SMARTCV AI  /  ĐỀ XUẤT NGHIÊN CỨU</a:t>
            </a:r>
            <a:endParaRPr lang="en-US" sz="900" dirty="0"/>
          </a:p>
        </p:txBody>
      </p:sp>
      <p:sp>
        <p:nvSpPr>
          <p:cNvPr id="7" name="Text 5"/>
          <p:cNvSpPr/>
          <p:nvPr/>
        </p:nvSpPr>
        <p:spPr>
          <a:xfrm>
            <a:off x="10001250" y="6477000"/>
            <a:ext cx="1466850" cy="190500"/>
          </a:xfrm>
          <a:prstGeom prst="rect">
            <a:avLst/>
          </a:prstGeom>
          <a:noFill/>
          <a:ln/>
        </p:spPr>
        <p:txBody>
          <a:bodyPr wrap="square" lIns="0" tIns="0" rIns="0" bIns="0" rtlCol="0" anchor="t">
            <a:normAutofit/>
          </a:bodyPr>
          <a:lstStyle/>
          <a:p>
            <a:pPr algn="r" indent="0" marL="0">
              <a:buNone/>
            </a:pPr>
            <a:r>
              <a:rPr lang="en-US" sz="900" dirty="0">
                <a:solidFill>
                  <a:srgbClr val="54657A"/>
                </a:solidFill>
                <a:latin typeface="Arial" pitchFamily="34" charset="0"/>
                <a:ea typeface="Arial" pitchFamily="34" charset="-122"/>
                <a:cs typeface="Arial" pitchFamily="34" charset="-120"/>
              </a:rPr>
              <a:t>02   ·   0:25–1:05</a:t>
            </a:r>
            <a:endParaRPr lang="en-US" sz="900" dirty="0"/>
          </a:p>
        </p:txBody>
      </p:sp>
      <p:sp>
        <p:nvSpPr>
          <p:cNvPr id="8" name="Text 6"/>
          <p:cNvSpPr/>
          <p:nvPr/>
        </p:nvSpPr>
        <p:spPr>
          <a:xfrm>
            <a:off x="781050" y="1685925"/>
            <a:ext cx="2857500" cy="228600"/>
          </a:xfrm>
          <a:prstGeom prst="rect">
            <a:avLst/>
          </a:prstGeom>
          <a:noFill/>
          <a:ln/>
        </p:spPr>
        <p:txBody>
          <a:bodyPr wrap="square" lIns="0" tIns="0" rIns="0" bIns="0" rtlCol="0" anchor="t">
            <a:normAutofit/>
          </a:bodyPr>
          <a:lstStyle/>
          <a:p>
            <a:pPr algn="l" indent="0" marL="0">
              <a:buNone/>
            </a:pPr>
            <a:r>
              <a:rPr lang="en-US" sz="1050" b="1" dirty="0">
                <a:solidFill>
                  <a:srgbClr val="C25454"/>
                </a:solidFill>
                <a:latin typeface="Arial" pitchFamily="34" charset="0"/>
                <a:ea typeface="Arial" pitchFamily="34" charset="-122"/>
                <a:cs typeface="Arial" pitchFamily="34" charset="-120"/>
              </a:rPr>
              <a:t>VẤN ĐỀ</a:t>
            </a:r>
            <a:endParaRPr lang="en-US" sz="1050" dirty="0"/>
          </a:p>
        </p:txBody>
      </p:sp>
      <p:sp>
        <p:nvSpPr>
          <p:cNvPr id="9" name="Text 7"/>
          <p:cNvSpPr/>
          <p:nvPr/>
        </p:nvSpPr>
        <p:spPr>
          <a:xfrm>
            <a:off x="781050" y="2057400"/>
            <a:ext cx="4667250" cy="2095500"/>
          </a:xfrm>
          <a:prstGeom prst="rect">
            <a:avLst/>
          </a:prstGeom>
          <a:noFill/>
          <a:ln/>
        </p:spPr>
        <p:txBody>
          <a:bodyPr wrap="square" lIns="0" tIns="0" rIns="0" bIns="0" rtlCol="0" anchor="t">
            <a:normAutofit/>
          </a:bodyPr>
          <a:lstStyle/>
          <a:p>
            <a:pPr algn="l" indent="0" marL="0">
              <a:buNone/>
            </a:pPr>
            <a:r>
              <a:rPr lang="en-US" sz="1650" dirty="0">
                <a:solidFill>
                  <a:srgbClr val="13233B"/>
                </a:solidFill>
                <a:latin typeface="Arial" pitchFamily="34" charset="0"/>
                <a:ea typeface="Arial" pitchFamily="34" charset="-122"/>
                <a:cs typeface="Arial" pitchFamily="34" charset="-120"/>
              </a:rPr>
              <a:t>Sàng lọc nhiều CV mất thời gian</a:t>
            </a:r>
            <a:endParaRPr lang="en-US" sz="1650" dirty="0"/>
          </a:p>
          <a:p>
            <a:pPr algn="l" indent="0" marL="0">
              <a:buNone/>
            </a:pPr>
            <a:r>
              <a:rPr lang="en-US" sz="1650" dirty="0">
                <a:solidFill>
                  <a:srgbClr val="13233B"/>
                </a:solidFill>
                <a:latin typeface="Arial" pitchFamily="34" charset="0"/>
                <a:ea typeface="Arial" pitchFamily="34" charset="-122"/>
                <a:cs typeface="Arial" pitchFamily="34" charset="-120"/>
              </a:rPr>
              <a:t>ATS từ khóa bỏ sót cách diễn đạt tương đương</a:t>
            </a:r>
            <a:endParaRPr lang="en-US" sz="1650" dirty="0"/>
          </a:p>
          <a:p>
            <a:pPr algn="l" indent="0" marL="0">
              <a:buNone/>
            </a:pPr>
            <a:r>
              <a:rPr lang="en-US" sz="1650" dirty="0">
                <a:solidFill>
                  <a:srgbClr val="13233B"/>
                </a:solidFill>
                <a:latin typeface="Arial" pitchFamily="34" charset="0"/>
                <a:ea typeface="Arial" pitchFamily="34" charset="-122"/>
                <a:cs typeface="Arial" pitchFamily="34" charset="-120"/>
              </a:rPr>
              <a:t>CV chứa dữ liệu cá nhân nhạy cảm</a:t>
            </a:r>
            <a:endParaRPr lang="en-US" sz="1650" dirty="0"/>
          </a:p>
          <a:p>
            <a:pPr algn="l" indent="0" marL="0">
              <a:buNone/>
            </a:pPr>
            <a:r>
              <a:rPr lang="en-US" sz="1650" dirty="0">
                <a:solidFill>
                  <a:srgbClr val="13233B"/>
                </a:solidFill>
                <a:latin typeface="Arial" pitchFamily="34" charset="0"/>
                <a:ea typeface="Arial" pitchFamily="34" charset="-122"/>
                <a:cs typeface="Arial" pitchFamily="34" charset="-120"/>
              </a:rPr>
              <a:t>Phỏng vấn sơ loại khó chuẩn hóa</a:t>
            </a:r>
            <a:endParaRPr lang="en-US" sz="1650" dirty="0"/>
          </a:p>
        </p:txBody>
      </p:sp>
      <p:sp>
        <p:nvSpPr>
          <p:cNvPr id="10" name="Shape 8"/>
          <p:cNvSpPr/>
          <p:nvPr/>
        </p:nvSpPr>
        <p:spPr>
          <a:xfrm>
            <a:off x="6019800" y="1762125"/>
            <a:ext cx="0" cy="3714750"/>
          </a:xfrm>
          <a:prstGeom prst="line">
            <a:avLst/>
          </a:prstGeom>
          <a:solidFill>
            <a:srgbClr val="FFFFFF">
              <a:alpha val="0"/>
            </a:srgbClr>
          </a:solidFill>
          <a:ln w="265">
            <a:solidFill>
              <a:srgbClr val="D8E2EE"/>
            </a:solidFill>
            <a:prstDash val="solid"/>
          </a:ln>
        </p:spPr>
      </p:sp>
      <p:sp>
        <p:nvSpPr>
          <p:cNvPr id="11" name="Text 9"/>
          <p:cNvSpPr/>
          <p:nvPr/>
        </p:nvSpPr>
        <p:spPr>
          <a:xfrm>
            <a:off x="6629400" y="1685925"/>
            <a:ext cx="2857500" cy="228600"/>
          </a:xfrm>
          <a:prstGeom prst="rect">
            <a:avLst/>
          </a:prstGeom>
          <a:noFill/>
          <a:ln/>
        </p:spPr>
        <p:txBody>
          <a:bodyPr wrap="square" lIns="0" tIns="0" rIns="0" bIns="0" rtlCol="0" anchor="t">
            <a:normAutofit/>
          </a:bodyPr>
          <a:lstStyle/>
          <a:p>
            <a:pPr algn="l" indent="0" marL="0">
              <a:buNone/>
            </a:pPr>
            <a:r>
              <a:rPr lang="en-US" sz="1050" b="1" dirty="0">
                <a:solidFill>
                  <a:srgbClr val="249A78"/>
                </a:solidFill>
                <a:latin typeface="Arial" pitchFamily="34" charset="0"/>
                <a:ea typeface="Arial" pitchFamily="34" charset="-122"/>
                <a:cs typeface="Arial" pitchFamily="34" charset="-120"/>
              </a:rPr>
              <a:t>MỤC TIÊU</a:t>
            </a:r>
            <a:endParaRPr lang="en-US" sz="1050" dirty="0"/>
          </a:p>
        </p:txBody>
      </p:sp>
      <p:sp>
        <p:nvSpPr>
          <p:cNvPr id="12" name="Text 10"/>
          <p:cNvSpPr/>
          <p:nvPr/>
        </p:nvSpPr>
        <p:spPr>
          <a:xfrm>
            <a:off x="6629400" y="2057400"/>
            <a:ext cx="4476750" cy="647700"/>
          </a:xfrm>
          <a:prstGeom prst="rect">
            <a:avLst/>
          </a:prstGeom>
          <a:noFill/>
          <a:ln/>
        </p:spPr>
        <p:txBody>
          <a:bodyPr wrap="square" lIns="0" tIns="0" rIns="0" bIns="0" rtlCol="0" anchor="t">
            <a:normAutofit/>
          </a:bodyPr>
          <a:lstStyle/>
          <a:p>
            <a:pPr algn="l" indent="0" marL="0">
              <a:buNone/>
            </a:pPr>
            <a:r>
              <a:rPr lang="en-US" sz="1575" dirty="0">
                <a:solidFill>
                  <a:srgbClr val="13233B"/>
                </a:solidFill>
                <a:latin typeface="Arial" pitchFamily="34" charset="0"/>
                <a:ea typeface="Arial" pitchFamily="34" charset="-122"/>
                <a:cs typeface="Arial" pitchFamily="34" charset="-120"/>
              </a:rPr>
              <a:t>Xây dựng và đánh giá 3 chức năng AI chạy nội bộ, tích hợp trong SmartCV:</a:t>
            </a:r>
            <a:endParaRPr lang="en-US" sz="1575" dirty="0"/>
          </a:p>
        </p:txBody>
      </p:sp>
      <p:sp>
        <p:nvSpPr>
          <p:cNvPr id="13" name="Text 11"/>
          <p:cNvSpPr/>
          <p:nvPr/>
        </p:nvSpPr>
        <p:spPr>
          <a:xfrm>
            <a:off x="6629400" y="2933700"/>
            <a:ext cx="4476750" cy="323850"/>
          </a:xfrm>
          <a:prstGeom prst="rect">
            <a:avLst/>
          </a:prstGeom>
          <a:noFill/>
          <a:ln/>
        </p:spPr>
        <p:txBody>
          <a:bodyPr wrap="square" lIns="0" tIns="0" rIns="0" bIns="0" rtlCol="0" anchor="t">
            <a:normAutofit/>
          </a:bodyPr>
          <a:lstStyle/>
          <a:p>
            <a:pPr algn="l" indent="0" marL="0">
              <a:buNone/>
            </a:pPr>
            <a:r>
              <a:rPr lang="en-US" sz="1500" b="1" dirty="0">
                <a:solidFill>
                  <a:srgbClr val="0B1730"/>
                </a:solidFill>
                <a:latin typeface="Arial" pitchFamily="34" charset="0"/>
                <a:ea typeface="Arial" pitchFamily="34" charset="-122"/>
                <a:cs typeface="Arial" pitchFamily="34" charset="-120"/>
              </a:rPr>
              <a:t>01   Xếp hạng CV theo mức phù hợp với JD</a:t>
            </a:r>
            <a:endParaRPr lang="en-US" sz="1500" dirty="0"/>
          </a:p>
        </p:txBody>
      </p:sp>
      <p:sp>
        <p:nvSpPr>
          <p:cNvPr id="14" name="Text 12"/>
          <p:cNvSpPr/>
          <p:nvPr/>
        </p:nvSpPr>
        <p:spPr>
          <a:xfrm>
            <a:off x="6629400" y="3448050"/>
            <a:ext cx="4476750" cy="514350"/>
          </a:xfrm>
          <a:prstGeom prst="rect">
            <a:avLst/>
          </a:prstGeom>
          <a:noFill/>
          <a:ln/>
        </p:spPr>
        <p:txBody>
          <a:bodyPr wrap="square" lIns="0" tIns="0" rIns="0" bIns="0" rtlCol="0" anchor="t">
            <a:normAutofit/>
          </a:bodyPr>
          <a:lstStyle/>
          <a:p>
            <a:pPr algn="l" indent="0" marL="0">
              <a:buNone/>
            </a:pPr>
            <a:r>
              <a:rPr lang="en-US" sz="1500" b="1" dirty="0">
                <a:solidFill>
                  <a:srgbClr val="0B1730"/>
                </a:solidFill>
                <a:latin typeface="Arial" pitchFamily="34" charset="0"/>
                <a:ea typeface="Arial" pitchFamily="34" charset="-122"/>
                <a:cs typeface="Arial" pitchFamily="34" charset="-120"/>
              </a:rPr>
              <a:t>02   Phân tích điểm mạnh và khoảng thiếu kỹ năng</a:t>
            </a:r>
            <a:endParaRPr lang="en-US" sz="1500" dirty="0"/>
          </a:p>
        </p:txBody>
      </p:sp>
      <p:sp>
        <p:nvSpPr>
          <p:cNvPr id="15" name="Text 13"/>
          <p:cNvSpPr/>
          <p:nvPr/>
        </p:nvSpPr>
        <p:spPr>
          <a:xfrm>
            <a:off x="6629400" y="4095750"/>
            <a:ext cx="4476750" cy="514350"/>
          </a:xfrm>
          <a:prstGeom prst="rect">
            <a:avLst/>
          </a:prstGeom>
          <a:noFill/>
          <a:ln/>
        </p:spPr>
        <p:txBody>
          <a:bodyPr wrap="square" lIns="0" tIns="0" rIns="0" bIns="0" rtlCol="0" anchor="t">
            <a:normAutofit/>
          </a:bodyPr>
          <a:lstStyle/>
          <a:p>
            <a:pPr algn="l" indent="0" marL="0">
              <a:buNone/>
            </a:pPr>
            <a:r>
              <a:rPr lang="en-US" sz="1500" b="1" dirty="0">
                <a:solidFill>
                  <a:srgbClr val="0B1730"/>
                </a:solidFill>
                <a:latin typeface="Arial" pitchFamily="34" charset="0"/>
                <a:ea typeface="Arial" pitchFamily="34" charset="-122"/>
                <a:cs typeface="Arial" pitchFamily="34" charset="-120"/>
              </a:rPr>
              <a:t>03   Mô phỏng phỏng vấn nhiều lượt theo STAR</a:t>
            </a:r>
            <a:endParaRPr lang="en-US" sz="1500" dirty="0"/>
          </a:p>
        </p:txBody>
      </p:sp>
      <p:sp>
        <p:nvSpPr>
          <p:cNvPr id="16" name="Shape 14"/>
          <p:cNvSpPr/>
          <p:nvPr/>
        </p:nvSpPr>
        <p:spPr>
          <a:xfrm>
            <a:off x="6629400" y="4933950"/>
            <a:ext cx="4476750" cy="647700"/>
          </a:xfrm>
          <a:prstGeom prst="roundRect">
            <a:avLst/>
          </a:prstGeom>
          <a:solidFill>
            <a:srgbClr val="EAF2FA"/>
          </a:solidFill>
          <a:ln w="12700">
            <a:solidFill>
              <a:srgbClr val="FFFFFF">
                <a:alpha val="0"/>
              </a:srgbClr>
            </a:solidFill>
            <a:prstDash val="solid"/>
          </a:ln>
        </p:spPr>
      </p:sp>
      <p:sp>
        <p:nvSpPr>
          <p:cNvPr id="17" name="Text 15"/>
          <p:cNvSpPr/>
          <p:nvPr/>
        </p:nvSpPr>
        <p:spPr>
          <a:xfrm>
            <a:off x="6819900" y="5095875"/>
            <a:ext cx="4095750" cy="400050"/>
          </a:xfrm>
          <a:prstGeom prst="rect">
            <a:avLst/>
          </a:prstGeom>
          <a:noFill/>
          <a:ln/>
        </p:spPr>
        <p:txBody>
          <a:bodyPr wrap="square" lIns="0" tIns="0" rIns="0" bIns="0" rtlCol="0" anchor="t">
            <a:normAutofit/>
          </a:bodyPr>
          <a:lstStyle/>
          <a:p>
            <a:pPr algn="l" indent="0" marL="0">
              <a:buNone/>
            </a:pPr>
            <a:r>
              <a:rPr lang="en-US" sz="1275" b="1" dirty="0">
                <a:solidFill>
                  <a:srgbClr val="0B1730"/>
                </a:solidFill>
                <a:latin typeface="Arial" pitchFamily="34" charset="0"/>
                <a:ea typeface="Arial" pitchFamily="34" charset="-122"/>
                <a:cs typeface="Arial" pitchFamily="34" charset="-120"/>
              </a:rPr>
              <a:t>Dữ liệu CV được xử lý trên môi trường nội bộ, có bước ẩn danh thông tin cá nhân.</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6997" cy="95250"/>
          </a:xfrm>
          <a:prstGeom prst="rect">
            <a:avLst/>
          </a:prstGeom>
          <a:solidFill>
            <a:srgbClr val="42C7D9"/>
          </a:solidFill>
          <a:ln w="12700">
            <a:solidFill>
              <a:srgbClr val="FFFFFF">
                <a:alpha val="0"/>
              </a:srgbClr>
            </a:solidFill>
            <a:prstDash val="solid"/>
          </a:ln>
        </p:spPr>
      </p:sp>
      <p:sp>
        <p:nvSpPr>
          <p:cNvPr id="3" name="Text 1"/>
          <p:cNvSpPr/>
          <p:nvPr/>
        </p:nvSpPr>
        <p:spPr>
          <a:xfrm>
            <a:off x="723900" y="361950"/>
            <a:ext cx="6096000" cy="228600"/>
          </a:xfrm>
          <a:prstGeom prst="rect">
            <a:avLst/>
          </a:prstGeom>
          <a:noFill/>
          <a:ln/>
        </p:spPr>
        <p:txBody>
          <a:bodyPr wrap="square" lIns="0" tIns="0" rIns="0" bIns="0" rtlCol="0" anchor="t">
            <a:normAutofit/>
          </a:bodyPr>
          <a:lstStyle/>
          <a:p>
            <a:pPr algn="l" indent="0" marL="0">
              <a:buNone/>
            </a:pPr>
            <a:r>
              <a:rPr lang="en-US" sz="1050" b="1" dirty="0">
                <a:solidFill>
                  <a:srgbClr val="2563EB"/>
                </a:solidFill>
                <a:latin typeface="Arial" pitchFamily="34" charset="0"/>
                <a:ea typeface="Arial" pitchFamily="34" charset="-122"/>
                <a:cs typeface="Arial" pitchFamily="34" charset="-120"/>
              </a:rPr>
              <a:t>GIẢI PHÁP DỰ KIẾN</a:t>
            </a:r>
            <a:endParaRPr lang="en-US" sz="1050" dirty="0"/>
          </a:p>
        </p:txBody>
      </p:sp>
      <p:sp>
        <p:nvSpPr>
          <p:cNvPr id="4" name="Text 2"/>
          <p:cNvSpPr/>
          <p:nvPr/>
        </p:nvSpPr>
        <p:spPr>
          <a:xfrm>
            <a:off x="723900" y="685800"/>
            <a:ext cx="10744200" cy="571500"/>
          </a:xfrm>
          <a:prstGeom prst="rect">
            <a:avLst/>
          </a:prstGeom>
          <a:noFill/>
          <a:ln/>
        </p:spPr>
        <p:txBody>
          <a:bodyPr wrap="square" lIns="0" tIns="0" rIns="0" bIns="0" rtlCol="0" anchor="t">
            <a:normAutofit/>
          </a:bodyPr>
          <a:lstStyle/>
          <a:p>
            <a:pPr algn="l" indent="0" marL="0">
              <a:buNone/>
            </a:pPr>
            <a:r>
              <a:rPr lang="en-US" sz="2550" b="1" dirty="0">
                <a:solidFill>
                  <a:srgbClr val="0B1730"/>
                </a:solidFill>
                <a:latin typeface="Arial" pitchFamily="34" charset="0"/>
                <a:ea typeface="Arial" pitchFamily="34" charset="-122"/>
                <a:cs typeface="Arial" pitchFamily="34" charset="-120"/>
              </a:rPr>
              <a:t>Ý tưởng: ba mô-đun AI trong một quy trình</a:t>
            </a:r>
            <a:endParaRPr lang="en-US" sz="2550" dirty="0"/>
          </a:p>
        </p:txBody>
      </p:sp>
      <p:sp>
        <p:nvSpPr>
          <p:cNvPr id="5" name="Shape 3"/>
          <p:cNvSpPr/>
          <p:nvPr/>
        </p:nvSpPr>
        <p:spPr>
          <a:xfrm>
            <a:off x="723900" y="1390650"/>
            <a:ext cx="10744200" cy="0"/>
          </a:xfrm>
          <a:prstGeom prst="line">
            <a:avLst/>
          </a:prstGeom>
          <a:solidFill>
            <a:srgbClr val="FFFFFF">
              <a:alpha val="0"/>
            </a:srgbClr>
          </a:solidFill>
          <a:ln w="132">
            <a:solidFill>
              <a:srgbClr val="D8E2EE"/>
            </a:solidFill>
            <a:prstDash val="solid"/>
          </a:ln>
        </p:spPr>
      </p:sp>
      <p:sp>
        <p:nvSpPr>
          <p:cNvPr id="6" name="Text 4"/>
          <p:cNvSpPr/>
          <p:nvPr/>
        </p:nvSpPr>
        <p:spPr>
          <a:xfrm>
            <a:off x="723900" y="6496050"/>
            <a:ext cx="5715000" cy="171450"/>
          </a:xfrm>
          <a:prstGeom prst="rect">
            <a:avLst/>
          </a:prstGeom>
          <a:noFill/>
          <a:ln/>
        </p:spPr>
        <p:txBody>
          <a:bodyPr wrap="square" lIns="0" tIns="0" rIns="0" bIns="0" rtlCol="0" anchor="t">
            <a:normAutofit/>
          </a:bodyPr>
          <a:lstStyle/>
          <a:p>
            <a:pPr algn="l" indent="0" marL="0">
              <a:buNone/>
            </a:pPr>
            <a:r>
              <a:rPr lang="en-US" sz="900" b="1" dirty="0">
                <a:solidFill>
                  <a:srgbClr val="54657A"/>
                </a:solidFill>
                <a:latin typeface="Arial" pitchFamily="34" charset="0"/>
                <a:ea typeface="Arial" pitchFamily="34" charset="-122"/>
                <a:cs typeface="Arial" pitchFamily="34" charset="-120"/>
              </a:rPr>
              <a:t>SMARTCV AI  /  ĐỀ XUẤT NGHIÊN CỨU</a:t>
            </a:r>
            <a:endParaRPr lang="en-US" sz="900" dirty="0"/>
          </a:p>
        </p:txBody>
      </p:sp>
      <p:sp>
        <p:nvSpPr>
          <p:cNvPr id="7" name="Text 5"/>
          <p:cNvSpPr/>
          <p:nvPr/>
        </p:nvSpPr>
        <p:spPr>
          <a:xfrm>
            <a:off x="10001250" y="6477000"/>
            <a:ext cx="1466850" cy="190500"/>
          </a:xfrm>
          <a:prstGeom prst="rect">
            <a:avLst/>
          </a:prstGeom>
          <a:noFill/>
          <a:ln/>
        </p:spPr>
        <p:txBody>
          <a:bodyPr wrap="square" lIns="0" tIns="0" rIns="0" bIns="0" rtlCol="0" anchor="t">
            <a:normAutofit/>
          </a:bodyPr>
          <a:lstStyle/>
          <a:p>
            <a:pPr algn="r" indent="0" marL="0">
              <a:buNone/>
            </a:pPr>
            <a:r>
              <a:rPr lang="en-US" sz="900" dirty="0">
                <a:solidFill>
                  <a:srgbClr val="54657A"/>
                </a:solidFill>
                <a:latin typeface="Arial" pitchFamily="34" charset="0"/>
                <a:ea typeface="Arial" pitchFamily="34" charset="-122"/>
                <a:cs typeface="Arial" pitchFamily="34" charset="-120"/>
              </a:rPr>
              <a:t>03   ·   1:05–1:45</a:t>
            </a:r>
            <a:endParaRPr lang="en-US" sz="900" dirty="0"/>
          </a:p>
        </p:txBody>
      </p:sp>
      <p:sp>
        <p:nvSpPr>
          <p:cNvPr id="8" name="Text 6"/>
          <p:cNvSpPr/>
          <p:nvPr/>
        </p:nvSpPr>
        <p:spPr>
          <a:xfrm>
            <a:off x="781050" y="1714500"/>
            <a:ext cx="1809750" cy="190500"/>
          </a:xfrm>
          <a:prstGeom prst="rect">
            <a:avLst/>
          </a:prstGeom>
          <a:noFill/>
          <a:ln/>
        </p:spPr>
        <p:txBody>
          <a:bodyPr wrap="square" lIns="0" tIns="0" rIns="0" bIns="0" rtlCol="0" anchor="t">
            <a:normAutofit/>
          </a:bodyPr>
          <a:lstStyle/>
          <a:p>
            <a:pPr algn="l" indent="0" marL="0">
              <a:buNone/>
            </a:pPr>
            <a:r>
              <a:rPr lang="en-US" sz="975" b="1" dirty="0">
                <a:solidFill>
                  <a:srgbClr val="2563EB"/>
                </a:solidFill>
                <a:latin typeface="Arial" pitchFamily="34" charset="0"/>
                <a:ea typeface="Arial" pitchFamily="34" charset="-122"/>
                <a:cs typeface="Arial" pitchFamily="34" charset="-120"/>
              </a:rPr>
              <a:t>ĐẦU VÀO</a:t>
            </a:r>
            <a:endParaRPr lang="en-US" sz="975" dirty="0"/>
          </a:p>
        </p:txBody>
      </p:sp>
      <p:sp>
        <p:nvSpPr>
          <p:cNvPr id="9" name="Text 7"/>
          <p:cNvSpPr/>
          <p:nvPr/>
        </p:nvSpPr>
        <p:spPr>
          <a:xfrm>
            <a:off x="781050" y="2095500"/>
            <a:ext cx="2190750" cy="685800"/>
          </a:xfrm>
          <a:prstGeom prst="rect">
            <a:avLst/>
          </a:prstGeom>
          <a:noFill/>
          <a:ln/>
        </p:spPr>
        <p:txBody>
          <a:bodyPr wrap="square" lIns="0" tIns="0" rIns="0" bIns="0" rtlCol="0" anchor="t">
            <a:normAutofit/>
          </a:bodyPr>
          <a:lstStyle/>
          <a:p>
            <a:pPr algn="l" indent="0" marL="0">
              <a:buNone/>
            </a:pPr>
            <a:r>
              <a:rPr lang="en-US" sz="1650" b="1" dirty="0">
                <a:solidFill>
                  <a:srgbClr val="0B1730"/>
                </a:solidFill>
                <a:latin typeface="Arial" pitchFamily="34" charset="0"/>
                <a:ea typeface="Arial" pitchFamily="34" charset="-122"/>
                <a:cs typeface="Arial" pitchFamily="34" charset="-120"/>
              </a:rPr>
              <a:t>CV ứng viên</a:t>
            </a:r>
            <a:endParaRPr lang="en-US" sz="1650" dirty="0"/>
          </a:p>
          <a:p>
            <a:pPr algn="l" indent="0" marL="0">
              <a:buNone/>
            </a:pPr>
            <a:r>
              <a:rPr lang="en-US" sz="1650" b="1" dirty="0">
                <a:solidFill>
                  <a:srgbClr val="0B1730"/>
                </a:solidFill>
                <a:latin typeface="Arial" pitchFamily="34" charset="0"/>
                <a:ea typeface="Arial" pitchFamily="34" charset="-122"/>
                <a:cs typeface="Arial" pitchFamily="34" charset="-120"/>
              </a:rPr>
              <a:t>Mô tả công việc</a:t>
            </a:r>
            <a:endParaRPr lang="en-US" sz="1650" dirty="0"/>
          </a:p>
        </p:txBody>
      </p:sp>
      <p:sp>
        <p:nvSpPr>
          <p:cNvPr id="10" name="Shape 8"/>
          <p:cNvSpPr/>
          <p:nvPr/>
        </p:nvSpPr>
        <p:spPr>
          <a:xfrm>
            <a:off x="2914650" y="2447925"/>
            <a:ext cx="762000" cy="0"/>
          </a:xfrm>
          <a:prstGeom prst="line">
            <a:avLst/>
          </a:prstGeom>
          <a:solidFill>
            <a:srgbClr val="FFFFFF">
              <a:alpha val="0"/>
            </a:srgbClr>
          </a:solidFill>
          <a:ln w="529">
            <a:solidFill>
              <a:srgbClr val="42C7D9"/>
            </a:solidFill>
            <a:prstDash val="solid"/>
          </a:ln>
        </p:spPr>
      </p:sp>
      <p:sp>
        <p:nvSpPr>
          <p:cNvPr id="11" name="Text 9"/>
          <p:cNvSpPr/>
          <p:nvPr/>
        </p:nvSpPr>
        <p:spPr>
          <a:xfrm>
            <a:off x="3905250" y="1743075"/>
            <a:ext cx="3143250" cy="323850"/>
          </a:xfrm>
          <a:prstGeom prst="rect">
            <a:avLst/>
          </a:prstGeom>
          <a:noFill/>
          <a:ln/>
        </p:spPr>
        <p:txBody>
          <a:bodyPr wrap="square" lIns="0" tIns="0" rIns="0" bIns="0" rtlCol="0" anchor="t">
            <a:normAutofit/>
          </a:bodyPr>
          <a:lstStyle/>
          <a:p>
            <a:pPr algn="l" indent="0" marL="0">
              <a:buNone/>
            </a:pPr>
            <a:r>
              <a:rPr lang="en-US" sz="1800" b="1" dirty="0">
                <a:solidFill>
                  <a:srgbClr val="0B1730"/>
                </a:solidFill>
                <a:latin typeface="Arial" pitchFamily="34" charset="0"/>
                <a:ea typeface="Arial" pitchFamily="34" charset="-122"/>
                <a:cs typeface="Arial" pitchFamily="34" charset="-120"/>
              </a:rPr>
              <a:t>01  Lọc CV</a:t>
            </a:r>
            <a:endParaRPr lang="en-US" sz="1800" dirty="0"/>
          </a:p>
        </p:txBody>
      </p:sp>
      <p:sp>
        <p:nvSpPr>
          <p:cNvPr id="12" name="Text 10"/>
          <p:cNvSpPr/>
          <p:nvPr/>
        </p:nvSpPr>
        <p:spPr>
          <a:xfrm>
            <a:off x="3905250" y="2133600"/>
            <a:ext cx="3619500" cy="590550"/>
          </a:xfrm>
          <a:prstGeom prst="rect">
            <a:avLst/>
          </a:prstGeom>
          <a:noFill/>
          <a:ln/>
        </p:spPr>
        <p:txBody>
          <a:bodyPr wrap="square" lIns="0" tIns="0" rIns="0" bIns="0" rtlCol="0" anchor="t">
            <a:normAutofit/>
          </a:bodyPr>
          <a:lstStyle/>
          <a:p>
            <a:pPr algn="l" indent="0" marL="0">
              <a:buNone/>
            </a:pPr>
            <a:r>
              <a:rPr lang="en-US" sz="1350" dirty="0">
                <a:solidFill>
                  <a:srgbClr val="54657A"/>
                </a:solidFill>
                <a:latin typeface="Arial" pitchFamily="34" charset="0"/>
                <a:ea typeface="Arial" pitchFamily="34" charset="-122"/>
                <a:cs typeface="Arial" pitchFamily="34" charset="-120"/>
              </a:rPr>
              <a:t>Biểu diễn CV và JD thành vector</a:t>
            </a:r>
            <a:endParaRPr lang="en-US" sz="1350" dirty="0"/>
          </a:p>
          <a:p>
            <a:pPr algn="l" indent="0" marL="0">
              <a:buNone/>
            </a:pPr>
            <a:r>
              <a:rPr lang="en-US" sz="1350" dirty="0">
                <a:solidFill>
                  <a:srgbClr val="54657A"/>
                </a:solidFill>
                <a:latin typeface="Arial" pitchFamily="34" charset="0"/>
                <a:ea typeface="Arial" pitchFamily="34" charset="-122"/>
                <a:cs typeface="Arial" pitchFamily="34" charset="-120"/>
              </a:rPr>
              <a:t>Xếp hạng theo độ tương đồng ngữ nghĩa</a:t>
            </a:r>
            <a:endParaRPr lang="en-US" sz="1350" dirty="0"/>
          </a:p>
        </p:txBody>
      </p:sp>
      <p:sp>
        <p:nvSpPr>
          <p:cNvPr id="13" name="Shape 11"/>
          <p:cNvSpPr/>
          <p:nvPr/>
        </p:nvSpPr>
        <p:spPr>
          <a:xfrm>
            <a:off x="4171950" y="2895600"/>
            <a:ext cx="6286500" cy="0"/>
          </a:xfrm>
          <a:prstGeom prst="line">
            <a:avLst/>
          </a:prstGeom>
          <a:solidFill>
            <a:srgbClr val="FFFFFF">
              <a:alpha val="0"/>
            </a:srgbClr>
          </a:solidFill>
          <a:ln w="265">
            <a:solidFill>
              <a:srgbClr val="D8E2EE"/>
            </a:solidFill>
            <a:prstDash val="solid"/>
          </a:ln>
        </p:spPr>
      </p:sp>
      <p:sp>
        <p:nvSpPr>
          <p:cNvPr id="14" name="Text 12"/>
          <p:cNvSpPr/>
          <p:nvPr/>
        </p:nvSpPr>
        <p:spPr>
          <a:xfrm>
            <a:off x="3905250" y="3171825"/>
            <a:ext cx="4000500" cy="323850"/>
          </a:xfrm>
          <a:prstGeom prst="rect">
            <a:avLst/>
          </a:prstGeom>
          <a:noFill/>
          <a:ln/>
        </p:spPr>
        <p:txBody>
          <a:bodyPr wrap="square" lIns="0" tIns="0" rIns="0" bIns="0" rtlCol="0" anchor="t">
            <a:normAutofit/>
          </a:bodyPr>
          <a:lstStyle/>
          <a:p>
            <a:pPr algn="l" indent="0" marL="0">
              <a:buNone/>
            </a:pPr>
            <a:r>
              <a:rPr lang="en-US" sz="1800" b="1" dirty="0">
                <a:solidFill>
                  <a:srgbClr val="0B1730"/>
                </a:solidFill>
                <a:latin typeface="Arial" pitchFamily="34" charset="0"/>
                <a:ea typeface="Arial" pitchFamily="34" charset="-122"/>
                <a:cs typeface="Arial" pitchFamily="34" charset="-120"/>
              </a:rPr>
              <a:t>02  Đánh giá ATS</a:t>
            </a:r>
            <a:endParaRPr lang="en-US" sz="1800" dirty="0"/>
          </a:p>
        </p:txBody>
      </p:sp>
      <p:sp>
        <p:nvSpPr>
          <p:cNvPr id="15" name="Text 13"/>
          <p:cNvSpPr/>
          <p:nvPr/>
        </p:nvSpPr>
        <p:spPr>
          <a:xfrm>
            <a:off x="3905250" y="3581400"/>
            <a:ext cx="4095750" cy="590550"/>
          </a:xfrm>
          <a:prstGeom prst="rect">
            <a:avLst/>
          </a:prstGeom>
          <a:noFill/>
          <a:ln/>
        </p:spPr>
        <p:txBody>
          <a:bodyPr wrap="square" lIns="0" tIns="0" rIns="0" bIns="0" rtlCol="0" anchor="t">
            <a:normAutofit/>
          </a:bodyPr>
          <a:lstStyle/>
          <a:p>
            <a:pPr algn="l" indent="0" marL="0">
              <a:buNone/>
            </a:pPr>
            <a:r>
              <a:rPr lang="en-US" sz="1350" dirty="0">
                <a:solidFill>
                  <a:srgbClr val="54657A"/>
                </a:solidFill>
                <a:latin typeface="Arial" pitchFamily="34" charset="0"/>
                <a:ea typeface="Arial" pitchFamily="34" charset="-122"/>
                <a:cs typeface="Arial" pitchFamily="34" charset="-120"/>
              </a:rPr>
              <a:t>Tóm tắt năng lực có bằng chứng</a:t>
            </a:r>
            <a:endParaRPr lang="en-US" sz="1350" dirty="0"/>
          </a:p>
          <a:p>
            <a:pPr algn="l" indent="0" marL="0">
              <a:buNone/>
            </a:pPr>
            <a:r>
              <a:rPr lang="en-US" sz="1350" dirty="0">
                <a:solidFill>
                  <a:srgbClr val="54657A"/>
                </a:solidFill>
                <a:latin typeface="Arial" pitchFamily="34" charset="0"/>
                <a:ea typeface="Arial" pitchFamily="34" charset="-122"/>
                <a:cs typeface="Arial" pitchFamily="34" charset="-120"/>
              </a:rPr>
              <a:t>Chỉ ra kỹ năng phù hợp và còn thiếu</a:t>
            </a:r>
            <a:endParaRPr lang="en-US" sz="1350" dirty="0"/>
          </a:p>
        </p:txBody>
      </p:sp>
      <p:sp>
        <p:nvSpPr>
          <p:cNvPr id="16" name="Shape 14"/>
          <p:cNvSpPr/>
          <p:nvPr/>
        </p:nvSpPr>
        <p:spPr>
          <a:xfrm>
            <a:off x="4171950" y="4286250"/>
            <a:ext cx="6286500" cy="0"/>
          </a:xfrm>
          <a:prstGeom prst="line">
            <a:avLst/>
          </a:prstGeom>
          <a:solidFill>
            <a:srgbClr val="FFFFFF">
              <a:alpha val="0"/>
            </a:srgbClr>
          </a:solidFill>
          <a:ln w="265">
            <a:solidFill>
              <a:srgbClr val="D8E2EE"/>
            </a:solidFill>
            <a:prstDash val="solid"/>
          </a:ln>
        </p:spPr>
      </p:sp>
      <p:sp>
        <p:nvSpPr>
          <p:cNvPr id="17" name="Text 15"/>
          <p:cNvSpPr/>
          <p:nvPr/>
        </p:nvSpPr>
        <p:spPr>
          <a:xfrm>
            <a:off x="3905250" y="4543425"/>
            <a:ext cx="4000500" cy="323850"/>
          </a:xfrm>
          <a:prstGeom prst="rect">
            <a:avLst/>
          </a:prstGeom>
          <a:noFill/>
          <a:ln/>
        </p:spPr>
        <p:txBody>
          <a:bodyPr wrap="square" lIns="0" tIns="0" rIns="0" bIns="0" rtlCol="0" anchor="t">
            <a:normAutofit/>
          </a:bodyPr>
          <a:lstStyle/>
          <a:p>
            <a:pPr algn="l" indent="0" marL="0">
              <a:buNone/>
            </a:pPr>
            <a:r>
              <a:rPr lang="en-US" sz="1800" b="1" dirty="0">
                <a:solidFill>
                  <a:srgbClr val="0B1730"/>
                </a:solidFill>
                <a:latin typeface="Arial" pitchFamily="34" charset="0"/>
                <a:ea typeface="Arial" pitchFamily="34" charset="-122"/>
                <a:cs typeface="Arial" pitchFamily="34" charset="-120"/>
              </a:rPr>
              <a:t>03  Phỏng vấn STAR</a:t>
            </a:r>
            <a:endParaRPr lang="en-US" sz="1800" dirty="0"/>
          </a:p>
        </p:txBody>
      </p:sp>
      <p:sp>
        <p:nvSpPr>
          <p:cNvPr id="18" name="Text 16"/>
          <p:cNvSpPr/>
          <p:nvPr/>
        </p:nvSpPr>
        <p:spPr>
          <a:xfrm>
            <a:off x="3905250" y="4953000"/>
            <a:ext cx="4762500" cy="590550"/>
          </a:xfrm>
          <a:prstGeom prst="rect">
            <a:avLst/>
          </a:prstGeom>
          <a:noFill/>
          <a:ln/>
        </p:spPr>
        <p:txBody>
          <a:bodyPr wrap="square" lIns="0" tIns="0" rIns="0" bIns="0" rtlCol="0" anchor="t">
            <a:normAutofit/>
          </a:bodyPr>
          <a:lstStyle/>
          <a:p>
            <a:pPr algn="l" indent="0" marL="0">
              <a:buNone/>
            </a:pPr>
            <a:r>
              <a:rPr lang="en-US" sz="1350" dirty="0">
                <a:solidFill>
                  <a:srgbClr val="54657A"/>
                </a:solidFill>
                <a:latin typeface="Arial" pitchFamily="34" charset="0"/>
                <a:ea typeface="Arial" pitchFamily="34" charset="-122"/>
                <a:cs typeface="Arial" pitchFamily="34" charset="-120"/>
              </a:rPr>
              <a:t>Hỏi đáp nhiều lượt theo tình huống</a:t>
            </a:r>
            <a:endParaRPr lang="en-US" sz="1350" dirty="0"/>
          </a:p>
          <a:p>
            <a:pPr algn="l" indent="0" marL="0">
              <a:buNone/>
            </a:pPr>
            <a:r>
              <a:rPr lang="en-US" sz="1350" dirty="0">
                <a:solidFill>
                  <a:srgbClr val="54657A"/>
                </a:solidFill>
                <a:latin typeface="Arial" pitchFamily="34" charset="0"/>
                <a:ea typeface="Arial" pitchFamily="34" charset="-122"/>
                <a:cs typeface="Arial" pitchFamily="34" charset="-120"/>
              </a:rPr>
              <a:t>Phản hồi cấu trúc Situation–Task–Action–Result</a:t>
            </a:r>
            <a:endParaRPr lang="en-US" sz="1350" dirty="0"/>
          </a:p>
        </p:txBody>
      </p:sp>
      <p:sp>
        <p:nvSpPr>
          <p:cNvPr id="19" name="Shape 17"/>
          <p:cNvSpPr/>
          <p:nvPr/>
        </p:nvSpPr>
        <p:spPr>
          <a:xfrm>
            <a:off x="8382000" y="3371850"/>
            <a:ext cx="933450" cy="0"/>
          </a:xfrm>
          <a:prstGeom prst="line">
            <a:avLst/>
          </a:prstGeom>
          <a:solidFill>
            <a:srgbClr val="FFFFFF">
              <a:alpha val="0"/>
            </a:srgbClr>
          </a:solidFill>
          <a:ln w="529">
            <a:solidFill>
              <a:srgbClr val="42C7D9"/>
            </a:solidFill>
            <a:prstDash val="solid"/>
          </a:ln>
        </p:spPr>
      </p:sp>
      <p:sp>
        <p:nvSpPr>
          <p:cNvPr id="20" name="Text 18"/>
          <p:cNvSpPr/>
          <p:nvPr/>
        </p:nvSpPr>
        <p:spPr>
          <a:xfrm>
            <a:off x="9525000" y="2962275"/>
            <a:ext cx="1619250" cy="190500"/>
          </a:xfrm>
          <a:prstGeom prst="rect">
            <a:avLst/>
          </a:prstGeom>
          <a:noFill/>
          <a:ln/>
        </p:spPr>
        <p:txBody>
          <a:bodyPr wrap="square" lIns="0" tIns="0" rIns="0" bIns="0" rtlCol="0" anchor="t">
            <a:normAutofit/>
          </a:bodyPr>
          <a:lstStyle/>
          <a:p>
            <a:pPr algn="l" indent="0" marL="0">
              <a:buNone/>
            </a:pPr>
            <a:r>
              <a:rPr lang="en-US" sz="975" b="1" dirty="0">
                <a:solidFill>
                  <a:srgbClr val="249A78"/>
                </a:solidFill>
                <a:latin typeface="Arial" pitchFamily="34" charset="0"/>
                <a:ea typeface="Arial" pitchFamily="34" charset="-122"/>
                <a:cs typeface="Arial" pitchFamily="34" charset="-120"/>
              </a:rPr>
              <a:t>ĐẦU RA</a:t>
            </a:r>
            <a:endParaRPr lang="en-US" sz="975" dirty="0"/>
          </a:p>
        </p:txBody>
      </p:sp>
      <p:sp>
        <p:nvSpPr>
          <p:cNvPr id="21" name="Text 19"/>
          <p:cNvSpPr/>
          <p:nvPr/>
        </p:nvSpPr>
        <p:spPr>
          <a:xfrm>
            <a:off x="9525000" y="3314700"/>
            <a:ext cx="2000250" cy="1066800"/>
          </a:xfrm>
          <a:prstGeom prst="rect">
            <a:avLst/>
          </a:prstGeom>
          <a:noFill/>
          <a:ln/>
        </p:spPr>
        <p:txBody>
          <a:bodyPr wrap="square" lIns="0" tIns="0" rIns="0" bIns="0" rtlCol="0" anchor="t">
            <a:normAutofit/>
          </a:bodyPr>
          <a:lstStyle/>
          <a:p>
            <a:pPr algn="l" indent="0" marL="0">
              <a:buNone/>
            </a:pPr>
            <a:r>
              <a:rPr lang="en-US" sz="1425" b="1" dirty="0">
                <a:solidFill>
                  <a:srgbClr val="0B1730"/>
                </a:solidFill>
                <a:latin typeface="Arial" pitchFamily="34" charset="0"/>
                <a:ea typeface="Arial" pitchFamily="34" charset="-122"/>
                <a:cs typeface="Arial" pitchFamily="34" charset="-120"/>
              </a:rPr>
              <a:t>Danh sách phù hợp</a:t>
            </a:r>
            <a:endParaRPr lang="en-US" sz="1425" dirty="0"/>
          </a:p>
          <a:p>
            <a:pPr algn="l" indent="0" marL="0">
              <a:buNone/>
            </a:pPr>
            <a:r>
              <a:rPr lang="en-US" sz="1425" b="1" dirty="0">
                <a:solidFill>
                  <a:srgbClr val="0B1730"/>
                </a:solidFill>
                <a:latin typeface="Arial" pitchFamily="34" charset="0"/>
                <a:ea typeface="Arial" pitchFamily="34" charset="-122"/>
                <a:cs typeface="Arial" pitchFamily="34" charset="-120"/>
              </a:rPr>
              <a:t>Phiếu đánh giá</a:t>
            </a:r>
            <a:endParaRPr lang="en-US" sz="1425" dirty="0"/>
          </a:p>
          <a:p>
            <a:pPr algn="l" indent="0" marL="0">
              <a:buNone/>
            </a:pPr>
            <a:r>
              <a:rPr lang="en-US" sz="1425" b="1" dirty="0">
                <a:solidFill>
                  <a:srgbClr val="0B1730"/>
                </a:solidFill>
                <a:latin typeface="Arial" pitchFamily="34" charset="0"/>
                <a:ea typeface="Arial" pitchFamily="34" charset="-122"/>
                <a:cs typeface="Arial" pitchFamily="34" charset="-120"/>
              </a:rPr>
              <a:t>Phiên luyện phỏng vấn</a:t>
            </a:r>
            <a:endParaRPr lang="en-US" sz="1425" dirty="0"/>
          </a:p>
        </p:txBody>
      </p:sp>
      <p:sp>
        <p:nvSpPr>
          <p:cNvPr id="22" name="Text 20"/>
          <p:cNvSpPr/>
          <p:nvPr/>
        </p:nvSpPr>
        <p:spPr>
          <a:xfrm>
            <a:off x="781050" y="5829300"/>
            <a:ext cx="10191750" cy="323850"/>
          </a:xfrm>
          <a:prstGeom prst="rect">
            <a:avLst/>
          </a:prstGeom>
          <a:noFill/>
          <a:ln/>
        </p:spPr>
        <p:txBody>
          <a:bodyPr wrap="square" lIns="0" tIns="0" rIns="0" bIns="0" rtlCol="0" anchor="t">
            <a:normAutofit/>
          </a:bodyPr>
          <a:lstStyle/>
          <a:p>
            <a:pPr algn="l" indent="0" marL="0">
              <a:buNone/>
            </a:pPr>
            <a:r>
              <a:rPr lang="en-US" sz="1275" dirty="0">
                <a:solidFill>
                  <a:srgbClr val="54657A"/>
                </a:solidFill>
                <a:latin typeface="Arial" pitchFamily="34" charset="0"/>
                <a:ea typeface="Arial" pitchFamily="34" charset="-122"/>
                <a:cs typeface="Arial" pitchFamily="34" charset="-120"/>
              </a:rPr>
              <a:t>Mô hình ngôn ngữ cục bộ đảm nhiệm phần đánh giá và hội thoại; mô hình embedding đảm nhiệm lọc nhanh.</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6997" cy="95250"/>
          </a:xfrm>
          <a:prstGeom prst="rect">
            <a:avLst/>
          </a:prstGeom>
          <a:solidFill>
            <a:srgbClr val="42C7D9"/>
          </a:solidFill>
          <a:ln w="12700">
            <a:solidFill>
              <a:srgbClr val="FFFFFF">
                <a:alpha val="0"/>
              </a:srgbClr>
            </a:solidFill>
            <a:prstDash val="solid"/>
          </a:ln>
        </p:spPr>
      </p:sp>
      <p:sp>
        <p:nvSpPr>
          <p:cNvPr id="3" name="Text 1"/>
          <p:cNvSpPr/>
          <p:nvPr/>
        </p:nvSpPr>
        <p:spPr>
          <a:xfrm>
            <a:off x="723900" y="361950"/>
            <a:ext cx="6096000" cy="228600"/>
          </a:xfrm>
          <a:prstGeom prst="rect">
            <a:avLst/>
          </a:prstGeom>
          <a:noFill/>
          <a:ln/>
        </p:spPr>
        <p:txBody>
          <a:bodyPr wrap="square" lIns="0" tIns="0" rIns="0" bIns="0" rtlCol="0" anchor="t">
            <a:normAutofit/>
          </a:bodyPr>
          <a:lstStyle/>
          <a:p>
            <a:pPr algn="l" indent="0" marL="0">
              <a:buNone/>
            </a:pPr>
            <a:r>
              <a:rPr lang="en-US" sz="1050" b="1" dirty="0">
                <a:solidFill>
                  <a:srgbClr val="2563EB"/>
                </a:solidFill>
                <a:latin typeface="Arial" pitchFamily="34" charset="0"/>
                <a:ea typeface="Arial" pitchFamily="34" charset="-122"/>
                <a:cs typeface="Arial" pitchFamily="34" charset="-120"/>
              </a:rPr>
              <a:t>PHƯƠNG PHÁP THỰC HIỆN</a:t>
            </a:r>
            <a:endParaRPr lang="en-US" sz="1050" dirty="0"/>
          </a:p>
        </p:txBody>
      </p:sp>
      <p:sp>
        <p:nvSpPr>
          <p:cNvPr id="4" name="Text 2"/>
          <p:cNvSpPr/>
          <p:nvPr/>
        </p:nvSpPr>
        <p:spPr>
          <a:xfrm>
            <a:off x="723900" y="685800"/>
            <a:ext cx="10744200" cy="571500"/>
          </a:xfrm>
          <a:prstGeom prst="rect">
            <a:avLst/>
          </a:prstGeom>
          <a:noFill/>
          <a:ln/>
        </p:spPr>
        <p:txBody>
          <a:bodyPr wrap="square" lIns="0" tIns="0" rIns="0" bIns="0" rtlCol="0" anchor="t">
            <a:normAutofit/>
          </a:bodyPr>
          <a:lstStyle/>
          <a:p>
            <a:pPr algn="l" indent="0" marL="0">
              <a:buNone/>
            </a:pPr>
            <a:r>
              <a:rPr lang="en-US" sz="2550" b="1" dirty="0">
                <a:solidFill>
                  <a:srgbClr val="0B1730"/>
                </a:solidFill>
                <a:latin typeface="Arial" pitchFamily="34" charset="0"/>
                <a:ea typeface="Arial" pitchFamily="34" charset="-122"/>
                <a:cs typeface="Arial" pitchFamily="34" charset="-120"/>
              </a:rPr>
              <a:t>Cách làm: phát triển trên nền SmartCV hiện có</a:t>
            </a:r>
            <a:endParaRPr lang="en-US" sz="2550" dirty="0"/>
          </a:p>
        </p:txBody>
      </p:sp>
      <p:sp>
        <p:nvSpPr>
          <p:cNvPr id="5" name="Shape 3"/>
          <p:cNvSpPr/>
          <p:nvPr/>
        </p:nvSpPr>
        <p:spPr>
          <a:xfrm>
            <a:off x="723900" y="1390650"/>
            <a:ext cx="10744200" cy="0"/>
          </a:xfrm>
          <a:prstGeom prst="line">
            <a:avLst/>
          </a:prstGeom>
          <a:solidFill>
            <a:srgbClr val="FFFFFF">
              <a:alpha val="0"/>
            </a:srgbClr>
          </a:solidFill>
          <a:ln w="132">
            <a:solidFill>
              <a:srgbClr val="D8E2EE"/>
            </a:solidFill>
            <a:prstDash val="solid"/>
          </a:ln>
        </p:spPr>
      </p:sp>
      <p:sp>
        <p:nvSpPr>
          <p:cNvPr id="6" name="Text 4"/>
          <p:cNvSpPr/>
          <p:nvPr/>
        </p:nvSpPr>
        <p:spPr>
          <a:xfrm>
            <a:off x="723900" y="6496050"/>
            <a:ext cx="5715000" cy="171450"/>
          </a:xfrm>
          <a:prstGeom prst="rect">
            <a:avLst/>
          </a:prstGeom>
          <a:noFill/>
          <a:ln/>
        </p:spPr>
        <p:txBody>
          <a:bodyPr wrap="square" lIns="0" tIns="0" rIns="0" bIns="0" rtlCol="0" anchor="t">
            <a:normAutofit/>
          </a:bodyPr>
          <a:lstStyle/>
          <a:p>
            <a:pPr algn="l" indent="0" marL="0">
              <a:buNone/>
            </a:pPr>
            <a:r>
              <a:rPr lang="en-US" sz="900" b="1" dirty="0">
                <a:solidFill>
                  <a:srgbClr val="54657A"/>
                </a:solidFill>
                <a:latin typeface="Arial" pitchFamily="34" charset="0"/>
                <a:ea typeface="Arial" pitchFamily="34" charset="-122"/>
                <a:cs typeface="Arial" pitchFamily="34" charset="-120"/>
              </a:rPr>
              <a:t>SMARTCV AI  /  ĐỀ XUẤT NGHIÊN CỨU</a:t>
            </a:r>
            <a:endParaRPr lang="en-US" sz="900" dirty="0"/>
          </a:p>
        </p:txBody>
      </p:sp>
      <p:sp>
        <p:nvSpPr>
          <p:cNvPr id="7" name="Text 5"/>
          <p:cNvSpPr/>
          <p:nvPr/>
        </p:nvSpPr>
        <p:spPr>
          <a:xfrm>
            <a:off x="10001250" y="6477000"/>
            <a:ext cx="1466850" cy="190500"/>
          </a:xfrm>
          <a:prstGeom prst="rect">
            <a:avLst/>
          </a:prstGeom>
          <a:noFill/>
          <a:ln/>
        </p:spPr>
        <p:txBody>
          <a:bodyPr wrap="square" lIns="0" tIns="0" rIns="0" bIns="0" rtlCol="0" anchor="t">
            <a:normAutofit/>
          </a:bodyPr>
          <a:lstStyle/>
          <a:p>
            <a:pPr algn="r" indent="0" marL="0">
              <a:buNone/>
            </a:pPr>
            <a:r>
              <a:rPr lang="en-US" sz="900" dirty="0">
                <a:solidFill>
                  <a:srgbClr val="54657A"/>
                </a:solidFill>
                <a:latin typeface="Arial" pitchFamily="34" charset="0"/>
                <a:ea typeface="Arial" pitchFamily="34" charset="-122"/>
                <a:cs typeface="Arial" pitchFamily="34" charset="-120"/>
              </a:rPr>
              <a:t>04   ·   1:45–2:30</a:t>
            </a:r>
            <a:endParaRPr lang="en-US" sz="900" dirty="0"/>
          </a:p>
        </p:txBody>
      </p:sp>
      <p:sp>
        <p:nvSpPr>
          <p:cNvPr id="8" name="Text 6"/>
          <p:cNvSpPr/>
          <p:nvPr/>
        </p:nvSpPr>
        <p:spPr>
          <a:xfrm>
            <a:off x="781050" y="1685925"/>
            <a:ext cx="3810000" cy="228600"/>
          </a:xfrm>
          <a:prstGeom prst="rect">
            <a:avLst/>
          </a:prstGeom>
          <a:noFill/>
          <a:ln/>
        </p:spPr>
        <p:txBody>
          <a:bodyPr wrap="square" lIns="0" tIns="0" rIns="0" bIns="0" rtlCol="0" anchor="t">
            <a:normAutofit/>
          </a:bodyPr>
          <a:lstStyle/>
          <a:p>
            <a:pPr algn="l" indent="0" marL="0">
              <a:buNone/>
            </a:pPr>
            <a:r>
              <a:rPr lang="en-US" sz="1050" b="1" dirty="0">
                <a:solidFill>
                  <a:srgbClr val="249A78"/>
                </a:solidFill>
                <a:latin typeface="Arial" pitchFamily="34" charset="0"/>
                <a:ea typeface="Arial" pitchFamily="34" charset="-122"/>
                <a:cs typeface="Arial" pitchFamily="34" charset="-120"/>
              </a:rPr>
              <a:t>ĐÃ CÓ TRONG DỰ ÁN</a:t>
            </a:r>
            <a:endParaRPr lang="en-US" sz="1050" dirty="0"/>
          </a:p>
        </p:txBody>
      </p:sp>
      <p:sp>
        <p:nvSpPr>
          <p:cNvPr id="9" name="Text 7"/>
          <p:cNvSpPr/>
          <p:nvPr/>
        </p:nvSpPr>
        <p:spPr>
          <a:xfrm>
            <a:off x="781050" y="2095500"/>
            <a:ext cx="4686300" cy="1638300"/>
          </a:xfrm>
          <a:prstGeom prst="rect">
            <a:avLst/>
          </a:prstGeom>
          <a:noFill/>
          <a:ln/>
        </p:spPr>
        <p:txBody>
          <a:bodyPr wrap="square" lIns="0" tIns="0" rIns="0" bIns="0" rtlCol="0" anchor="t">
            <a:normAutofit/>
          </a:bodyPr>
          <a:lstStyle/>
          <a:p>
            <a:pPr algn="l" indent="0" marL="0">
              <a:buNone/>
            </a:pPr>
            <a:r>
              <a:rPr lang="en-US" sz="1575" dirty="0">
                <a:solidFill>
                  <a:srgbClr val="13233B"/>
                </a:solidFill>
                <a:latin typeface="Arial" pitchFamily="34" charset="0"/>
                <a:ea typeface="Arial" pitchFamily="34" charset="-122"/>
                <a:cs typeface="Arial" pitchFamily="34" charset="-120"/>
              </a:rPr>
              <a:t>• Web ASP.NET Core và giao diện Vue 3</a:t>
            </a:r>
            <a:endParaRPr lang="en-US" sz="1575" dirty="0"/>
          </a:p>
          <a:p>
            <a:pPr algn="l" indent="0" marL="0">
              <a:buNone/>
            </a:pPr>
            <a:r>
              <a:rPr lang="en-US" sz="1575" dirty="0">
                <a:solidFill>
                  <a:srgbClr val="13233B"/>
                </a:solidFill>
                <a:latin typeface="Arial" pitchFamily="34" charset="0"/>
                <a:ea typeface="Arial" pitchFamily="34" charset="-122"/>
                <a:cs typeface="Arial" pitchFamily="34" charset="-120"/>
              </a:rPr>
              <a:t>• Dịch vụ AI Python/FastAPI</a:t>
            </a:r>
            <a:endParaRPr lang="en-US" sz="1575" dirty="0"/>
          </a:p>
          <a:p>
            <a:pPr algn="l" indent="0" marL="0">
              <a:buNone/>
            </a:pPr>
            <a:r>
              <a:rPr lang="en-US" sz="1575" dirty="0">
                <a:solidFill>
                  <a:srgbClr val="13233B"/>
                </a:solidFill>
                <a:latin typeface="Arial" pitchFamily="34" charset="0"/>
                <a:ea typeface="Arial" pitchFamily="34" charset="-122"/>
                <a:cs typeface="Arial" pitchFamily="34" charset="-120"/>
              </a:rPr>
              <a:t>• Vector cache và so khớp CV–JD</a:t>
            </a:r>
            <a:endParaRPr lang="en-US" sz="1575" dirty="0"/>
          </a:p>
          <a:p>
            <a:pPr algn="l" indent="0" marL="0">
              <a:buNone/>
            </a:pPr>
            <a:r>
              <a:rPr lang="en-US" sz="1575" dirty="0">
                <a:solidFill>
                  <a:srgbClr val="13233B"/>
                </a:solidFill>
                <a:latin typeface="Arial" pitchFamily="34" charset="0"/>
                <a:ea typeface="Arial" pitchFamily="34" charset="-122"/>
                <a:cs typeface="Arial" pitchFamily="34" charset="-120"/>
              </a:rPr>
              <a:t>• Phòng phỏng vấn STAR, lưu phân tích</a:t>
            </a:r>
            <a:endParaRPr lang="en-US" sz="1575" dirty="0"/>
          </a:p>
        </p:txBody>
      </p:sp>
      <p:sp>
        <p:nvSpPr>
          <p:cNvPr id="10" name="Shape 8"/>
          <p:cNvSpPr/>
          <p:nvPr/>
        </p:nvSpPr>
        <p:spPr>
          <a:xfrm>
            <a:off x="6076950" y="1762125"/>
            <a:ext cx="0" cy="3714750"/>
          </a:xfrm>
          <a:prstGeom prst="line">
            <a:avLst/>
          </a:prstGeom>
          <a:solidFill>
            <a:srgbClr val="FFFFFF">
              <a:alpha val="0"/>
            </a:srgbClr>
          </a:solidFill>
          <a:ln w="265">
            <a:solidFill>
              <a:srgbClr val="D8E2EE"/>
            </a:solidFill>
            <a:prstDash val="solid"/>
          </a:ln>
        </p:spPr>
      </p:sp>
      <p:sp>
        <p:nvSpPr>
          <p:cNvPr id="11" name="Text 9"/>
          <p:cNvSpPr/>
          <p:nvPr/>
        </p:nvSpPr>
        <p:spPr>
          <a:xfrm>
            <a:off x="6667500" y="1685925"/>
            <a:ext cx="4476750" cy="228600"/>
          </a:xfrm>
          <a:prstGeom prst="rect">
            <a:avLst/>
          </a:prstGeom>
          <a:noFill/>
          <a:ln/>
        </p:spPr>
        <p:txBody>
          <a:bodyPr wrap="square" lIns="0" tIns="0" rIns="0" bIns="0" rtlCol="0" anchor="t">
            <a:normAutofit/>
          </a:bodyPr>
          <a:lstStyle/>
          <a:p>
            <a:pPr algn="l" indent="0" marL="0">
              <a:buNone/>
            </a:pPr>
            <a:r>
              <a:rPr lang="en-US" sz="1050" b="1" dirty="0">
                <a:solidFill>
                  <a:srgbClr val="2563EB"/>
                </a:solidFill>
                <a:latin typeface="Arial" pitchFamily="34" charset="0"/>
                <a:ea typeface="Arial" pitchFamily="34" charset="-122"/>
                <a:cs typeface="Arial" pitchFamily="34" charset="-120"/>
              </a:rPr>
              <a:t>DỰ KIẾN NGHIÊN CỨU TIẾP</a:t>
            </a:r>
            <a:endParaRPr lang="en-US" sz="1050" dirty="0"/>
          </a:p>
        </p:txBody>
      </p:sp>
      <p:sp>
        <p:nvSpPr>
          <p:cNvPr id="12" name="Text 10"/>
          <p:cNvSpPr/>
          <p:nvPr/>
        </p:nvSpPr>
        <p:spPr>
          <a:xfrm>
            <a:off x="6667500" y="2095500"/>
            <a:ext cx="4667250" cy="1943100"/>
          </a:xfrm>
          <a:prstGeom prst="rect">
            <a:avLst/>
          </a:prstGeom>
          <a:noFill/>
          <a:ln/>
        </p:spPr>
        <p:txBody>
          <a:bodyPr wrap="square" lIns="0" tIns="0" rIns="0" bIns="0" rtlCol="0" anchor="t">
            <a:normAutofit/>
          </a:bodyPr>
          <a:lstStyle/>
          <a:p>
            <a:pPr algn="l" indent="0" marL="0">
              <a:buNone/>
            </a:pPr>
            <a:r>
              <a:rPr lang="en-US" sz="1500" dirty="0">
                <a:solidFill>
                  <a:srgbClr val="13233B"/>
                </a:solidFill>
                <a:latin typeface="Arial" pitchFamily="34" charset="0"/>
                <a:ea typeface="Arial" pitchFamily="34" charset="-122"/>
                <a:cs typeface="Arial" pitchFamily="34" charset="-120"/>
              </a:rPr>
              <a:t>• Chuẩn hóa, ẩn danh và gán nhãn dữ liệu</a:t>
            </a:r>
            <a:endParaRPr lang="en-US" sz="1500" dirty="0"/>
          </a:p>
          <a:p>
            <a:pPr algn="l" indent="0" marL="0">
              <a:buNone/>
            </a:pPr>
            <a:r>
              <a:rPr lang="en-US" sz="1500" dirty="0">
                <a:solidFill>
                  <a:srgbClr val="13233B"/>
                </a:solidFill>
                <a:latin typeface="Arial" pitchFamily="34" charset="0"/>
                <a:ea typeface="Arial" pitchFamily="34" charset="-122"/>
                <a:cs typeface="Arial" pitchFamily="34" charset="-120"/>
              </a:rPr>
              <a:t>• Đối chiếu điểm ATS với đánh giá chuyên gia</a:t>
            </a:r>
            <a:endParaRPr lang="en-US" sz="1500" dirty="0"/>
          </a:p>
          <a:p>
            <a:pPr algn="l" indent="0" marL="0">
              <a:buNone/>
            </a:pPr>
            <a:r>
              <a:rPr lang="en-US" sz="1500" dirty="0">
                <a:solidFill>
                  <a:srgbClr val="13233B"/>
                </a:solidFill>
                <a:latin typeface="Arial" pitchFamily="34" charset="0"/>
                <a:ea typeface="Arial" pitchFamily="34" charset="-122"/>
                <a:cs typeface="Arial" pitchFamily="34" charset="-120"/>
              </a:rPr>
              <a:t>• Thử các mô hình cục bộ phù hợp phần cứng</a:t>
            </a:r>
            <a:endParaRPr lang="en-US" sz="1500" dirty="0"/>
          </a:p>
          <a:p>
            <a:pPr algn="l" indent="0" marL="0">
              <a:buNone/>
            </a:pPr>
            <a:r>
              <a:rPr lang="en-US" sz="1500" dirty="0">
                <a:solidFill>
                  <a:srgbClr val="13233B"/>
                </a:solidFill>
                <a:latin typeface="Arial" pitchFamily="34" charset="0"/>
                <a:ea typeface="Arial" pitchFamily="34" charset="-122"/>
                <a:cs typeface="Arial" pitchFamily="34" charset="-120"/>
              </a:rPr>
              <a:t>• Tích hợp, đo độ trễ và đánh giá chất lượng</a:t>
            </a:r>
            <a:endParaRPr lang="en-US" sz="1500" dirty="0"/>
          </a:p>
        </p:txBody>
      </p:sp>
      <p:sp>
        <p:nvSpPr>
          <p:cNvPr id="13" name="Shape 11"/>
          <p:cNvSpPr/>
          <p:nvPr/>
        </p:nvSpPr>
        <p:spPr>
          <a:xfrm>
            <a:off x="781050" y="4533900"/>
            <a:ext cx="10553700" cy="1066800"/>
          </a:xfrm>
          <a:prstGeom prst="roundRect">
            <a:avLst/>
          </a:prstGeom>
          <a:solidFill>
            <a:srgbClr val="0B1730"/>
          </a:solidFill>
          <a:ln w="12700">
            <a:solidFill>
              <a:srgbClr val="FFFFFF">
                <a:alpha val="0"/>
              </a:srgbClr>
            </a:solidFill>
            <a:prstDash val="solid"/>
          </a:ln>
        </p:spPr>
      </p:sp>
      <p:sp>
        <p:nvSpPr>
          <p:cNvPr id="14" name="Text 12"/>
          <p:cNvSpPr/>
          <p:nvPr/>
        </p:nvSpPr>
        <p:spPr>
          <a:xfrm>
            <a:off x="1047750" y="4733925"/>
            <a:ext cx="2095500" cy="209550"/>
          </a:xfrm>
          <a:prstGeom prst="rect">
            <a:avLst/>
          </a:prstGeom>
          <a:noFill/>
          <a:ln/>
        </p:spPr>
        <p:txBody>
          <a:bodyPr wrap="square" lIns="0" tIns="0" rIns="0" bIns="0" rtlCol="0" anchor="t">
            <a:normAutofit/>
          </a:bodyPr>
          <a:lstStyle/>
          <a:p>
            <a:pPr algn="l" indent="0" marL="0">
              <a:buNone/>
            </a:pPr>
            <a:r>
              <a:rPr lang="en-US" sz="1050" b="1" dirty="0">
                <a:solidFill>
                  <a:srgbClr val="42C7D9"/>
                </a:solidFill>
                <a:latin typeface="Arial" pitchFamily="34" charset="0"/>
                <a:ea typeface="Arial" pitchFamily="34" charset="-122"/>
                <a:cs typeface="Arial" pitchFamily="34" charset="-120"/>
              </a:rPr>
              <a:t>ĐÁNH GIÁ BẰNG</a:t>
            </a:r>
            <a:endParaRPr lang="en-US" sz="1050" dirty="0"/>
          </a:p>
        </p:txBody>
      </p:sp>
      <p:sp>
        <p:nvSpPr>
          <p:cNvPr id="15" name="Text 13"/>
          <p:cNvSpPr/>
          <p:nvPr/>
        </p:nvSpPr>
        <p:spPr>
          <a:xfrm>
            <a:off x="1047750" y="5067300"/>
            <a:ext cx="2667000" cy="457200"/>
          </a:xfrm>
          <a:prstGeom prst="rect">
            <a:avLst/>
          </a:prstGeom>
          <a:noFill/>
          <a:ln/>
        </p:spPr>
        <p:txBody>
          <a:bodyPr wrap="square" lIns="0" tIns="0" rIns="0" bIns="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Xếp hạng CV</a:t>
            </a:r>
            <a:endParaRPr lang="en-US" sz="1350" dirty="0"/>
          </a:p>
          <a:p>
            <a:pPr algn="l" indent="0" marL="0">
              <a:buNone/>
            </a:pPr>
            <a:r>
              <a:rPr lang="en-US" sz="1350" b="1" dirty="0">
                <a:solidFill>
                  <a:srgbClr val="FFFFFF"/>
                </a:solidFill>
                <a:latin typeface="Arial" pitchFamily="34" charset="0"/>
                <a:ea typeface="Arial" pitchFamily="34" charset="-122"/>
                <a:cs typeface="Arial" pitchFamily="34" charset="-120"/>
              </a:rPr>
              <a:t>MRR / NDCG@10</a:t>
            </a:r>
            <a:endParaRPr lang="en-US" sz="1350" dirty="0"/>
          </a:p>
        </p:txBody>
      </p:sp>
      <p:sp>
        <p:nvSpPr>
          <p:cNvPr id="16" name="Text 14"/>
          <p:cNvSpPr/>
          <p:nvPr/>
        </p:nvSpPr>
        <p:spPr>
          <a:xfrm>
            <a:off x="4248150" y="5067300"/>
            <a:ext cx="2857500" cy="457200"/>
          </a:xfrm>
          <a:prstGeom prst="rect">
            <a:avLst/>
          </a:prstGeom>
          <a:noFill/>
          <a:ln/>
        </p:spPr>
        <p:txBody>
          <a:bodyPr wrap="square" lIns="0" tIns="0" rIns="0" bIns="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Chấm ATS</a:t>
            </a:r>
            <a:endParaRPr lang="en-US" sz="1350" dirty="0"/>
          </a:p>
          <a:p>
            <a:pPr algn="l" indent="0" marL="0">
              <a:buNone/>
            </a:pPr>
            <a:r>
              <a:rPr lang="en-US" sz="1350" b="1" dirty="0">
                <a:solidFill>
                  <a:srgbClr val="FFFFFF"/>
                </a:solidFill>
                <a:latin typeface="Arial" pitchFamily="34" charset="0"/>
                <a:ea typeface="Arial" pitchFamily="34" charset="-122"/>
                <a:cs typeface="Arial" pitchFamily="34" charset="-120"/>
              </a:rPr>
              <a:t>JSON hợp lệ, Pearson r</a:t>
            </a:r>
            <a:endParaRPr lang="en-US" sz="1350" dirty="0"/>
          </a:p>
        </p:txBody>
      </p:sp>
      <p:sp>
        <p:nvSpPr>
          <p:cNvPr id="17" name="Text 15"/>
          <p:cNvSpPr/>
          <p:nvPr/>
        </p:nvSpPr>
        <p:spPr>
          <a:xfrm>
            <a:off x="7772400" y="5067300"/>
            <a:ext cx="3143250" cy="457200"/>
          </a:xfrm>
          <a:prstGeom prst="rect">
            <a:avLst/>
          </a:prstGeom>
          <a:noFill/>
          <a:ln/>
        </p:spPr>
        <p:txBody>
          <a:bodyPr wrap="square" lIns="0" tIns="0" rIns="0" bIns="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Phỏng vấn</a:t>
            </a:r>
            <a:endParaRPr lang="en-US" sz="1350" dirty="0"/>
          </a:p>
          <a:p>
            <a:pPr algn="l" indent="0" marL="0">
              <a:buNone/>
            </a:pPr>
            <a:r>
              <a:rPr lang="en-US" sz="1350" b="1" dirty="0">
                <a:solidFill>
                  <a:srgbClr val="FFFFFF"/>
                </a:solidFill>
                <a:latin typeface="Arial" pitchFamily="34" charset="0"/>
                <a:ea typeface="Arial" pitchFamily="34" charset="-122"/>
                <a:cs typeface="Arial" pitchFamily="34" charset="-120"/>
              </a:rPr>
              <a:t>Liên quan, mạch lạc, độ trễ</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6997" cy="95250"/>
          </a:xfrm>
          <a:prstGeom prst="rect">
            <a:avLst/>
          </a:prstGeom>
          <a:solidFill>
            <a:srgbClr val="42C7D9"/>
          </a:solidFill>
          <a:ln w="12700">
            <a:solidFill>
              <a:srgbClr val="FFFFFF">
                <a:alpha val="0"/>
              </a:srgbClr>
            </a:solidFill>
            <a:prstDash val="solid"/>
          </a:ln>
        </p:spPr>
      </p:sp>
      <p:sp>
        <p:nvSpPr>
          <p:cNvPr id="3" name="Text 1"/>
          <p:cNvSpPr/>
          <p:nvPr/>
        </p:nvSpPr>
        <p:spPr>
          <a:xfrm>
            <a:off x="723900" y="361950"/>
            <a:ext cx="6096000" cy="228600"/>
          </a:xfrm>
          <a:prstGeom prst="rect">
            <a:avLst/>
          </a:prstGeom>
          <a:noFill/>
          <a:ln/>
        </p:spPr>
        <p:txBody>
          <a:bodyPr wrap="square" lIns="0" tIns="0" rIns="0" bIns="0" rtlCol="0" anchor="t">
            <a:normAutofit/>
          </a:bodyPr>
          <a:lstStyle/>
          <a:p>
            <a:pPr algn="l" indent="0" marL="0">
              <a:buNone/>
            </a:pPr>
            <a:r>
              <a:rPr lang="en-US" sz="1050" b="1" dirty="0">
                <a:solidFill>
                  <a:srgbClr val="2563EB"/>
                </a:solidFill>
                <a:latin typeface="Arial" pitchFamily="34" charset="0"/>
                <a:ea typeface="Arial" pitchFamily="34" charset="-122"/>
                <a:cs typeface="Arial" pitchFamily="34" charset="-120"/>
              </a:rPr>
              <a:t>KẾT QUẢ DỰ KIẾN</a:t>
            </a:r>
            <a:endParaRPr lang="en-US" sz="1050" dirty="0"/>
          </a:p>
        </p:txBody>
      </p:sp>
      <p:sp>
        <p:nvSpPr>
          <p:cNvPr id="4" name="Text 2"/>
          <p:cNvSpPr/>
          <p:nvPr/>
        </p:nvSpPr>
        <p:spPr>
          <a:xfrm>
            <a:off x="723900" y="685800"/>
            <a:ext cx="10744200" cy="571500"/>
          </a:xfrm>
          <a:prstGeom prst="rect">
            <a:avLst/>
          </a:prstGeom>
          <a:noFill/>
          <a:ln/>
        </p:spPr>
        <p:txBody>
          <a:bodyPr wrap="square" lIns="0" tIns="0" rIns="0" bIns="0" rtlCol="0" anchor="t">
            <a:normAutofit/>
          </a:bodyPr>
          <a:lstStyle/>
          <a:p>
            <a:pPr algn="l" indent="0" marL="0">
              <a:buNone/>
            </a:pPr>
            <a:r>
              <a:rPr lang="en-US" sz="2550" b="1" dirty="0">
                <a:solidFill>
                  <a:srgbClr val="0B1730"/>
                </a:solidFill>
                <a:latin typeface="Arial" pitchFamily="34" charset="0"/>
                <a:ea typeface="Arial" pitchFamily="34" charset="-122"/>
                <a:cs typeface="Arial" pitchFamily="34" charset="-120"/>
              </a:rPr>
              <a:t>Sản phẩm và kết quả mong đợi</a:t>
            </a:r>
            <a:endParaRPr lang="en-US" sz="2550" dirty="0"/>
          </a:p>
        </p:txBody>
      </p:sp>
      <p:sp>
        <p:nvSpPr>
          <p:cNvPr id="5" name="Shape 3"/>
          <p:cNvSpPr/>
          <p:nvPr/>
        </p:nvSpPr>
        <p:spPr>
          <a:xfrm>
            <a:off x="723900" y="1390650"/>
            <a:ext cx="10744200" cy="0"/>
          </a:xfrm>
          <a:prstGeom prst="line">
            <a:avLst/>
          </a:prstGeom>
          <a:solidFill>
            <a:srgbClr val="FFFFFF">
              <a:alpha val="0"/>
            </a:srgbClr>
          </a:solidFill>
          <a:ln w="132">
            <a:solidFill>
              <a:srgbClr val="D8E2EE"/>
            </a:solidFill>
            <a:prstDash val="solid"/>
          </a:ln>
        </p:spPr>
      </p:sp>
      <p:sp>
        <p:nvSpPr>
          <p:cNvPr id="6" name="Text 4"/>
          <p:cNvSpPr/>
          <p:nvPr/>
        </p:nvSpPr>
        <p:spPr>
          <a:xfrm>
            <a:off x="723900" y="6496050"/>
            <a:ext cx="5715000" cy="171450"/>
          </a:xfrm>
          <a:prstGeom prst="rect">
            <a:avLst/>
          </a:prstGeom>
          <a:noFill/>
          <a:ln/>
        </p:spPr>
        <p:txBody>
          <a:bodyPr wrap="square" lIns="0" tIns="0" rIns="0" bIns="0" rtlCol="0" anchor="t">
            <a:normAutofit/>
          </a:bodyPr>
          <a:lstStyle/>
          <a:p>
            <a:pPr algn="l" indent="0" marL="0">
              <a:buNone/>
            </a:pPr>
            <a:r>
              <a:rPr lang="en-US" sz="900" b="1" dirty="0">
                <a:solidFill>
                  <a:srgbClr val="54657A"/>
                </a:solidFill>
                <a:latin typeface="Arial" pitchFamily="34" charset="0"/>
                <a:ea typeface="Arial" pitchFamily="34" charset="-122"/>
                <a:cs typeface="Arial" pitchFamily="34" charset="-120"/>
              </a:rPr>
              <a:t>SMARTCV AI  /  ĐỀ XUẤT NGHIÊN CỨU</a:t>
            </a:r>
            <a:endParaRPr lang="en-US" sz="900" dirty="0"/>
          </a:p>
        </p:txBody>
      </p:sp>
      <p:sp>
        <p:nvSpPr>
          <p:cNvPr id="7" name="Text 5"/>
          <p:cNvSpPr/>
          <p:nvPr/>
        </p:nvSpPr>
        <p:spPr>
          <a:xfrm>
            <a:off x="10001250" y="6477000"/>
            <a:ext cx="1466850" cy="190500"/>
          </a:xfrm>
          <a:prstGeom prst="rect">
            <a:avLst/>
          </a:prstGeom>
          <a:noFill/>
          <a:ln/>
        </p:spPr>
        <p:txBody>
          <a:bodyPr wrap="square" lIns="0" tIns="0" rIns="0" bIns="0" rtlCol="0" anchor="t">
            <a:normAutofit/>
          </a:bodyPr>
          <a:lstStyle/>
          <a:p>
            <a:pPr algn="r" indent="0" marL="0">
              <a:buNone/>
            </a:pPr>
            <a:r>
              <a:rPr lang="en-US" sz="900" dirty="0">
                <a:solidFill>
                  <a:srgbClr val="54657A"/>
                </a:solidFill>
                <a:latin typeface="Arial" pitchFamily="34" charset="0"/>
                <a:ea typeface="Arial" pitchFamily="34" charset="-122"/>
                <a:cs typeface="Arial" pitchFamily="34" charset="-120"/>
              </a:rPr>
              <a:t>05   ·   2:30–3:05</a:t>
            </a:r>
            <a:endParaRPr lang="en-US" sz="900" dirty="0"/>
          </a:p>
        </p:txBody>
      </p:sp>
      <p:sp>
        <p:nvSpPr>
          <p:cNvPr id="8" name="Text 6"/>
          <p:cNvSpPr/>
          <p:nvPr/>
        </p:nvSpPr>
        <p:spPr>
          <a:xfrm>
            <a:off x="781050" y="1676400"/>
            <a:ext cx="4762500" cy="228600"/>
          </a:xfrm>
          <a:prstGeom prst="rect">
            <a:avLst/>
          </a:prstGeom>
          <a:noFill/>
          <a:ln/>
        </p:spPr>
        <p:txBody>
          <a:bodyPr wrap="square" lIns="0" tIns="0" rIns="0" bIns="0" rtlCol="0" anchor="t">
            <a:normAutofit/>
          </a:bodyPr>
          <a:lstStyle/>
          <a:p>
            <a:pPr algn="l" indent="0" marL="0">
              <a:buNone/>
            </a:pPr>
            <a:r>
              <a:rPr lang="en-US" sz="1050" b="1" dirty="0">
                <a:solidFill>
                  <a:srgbClr val="2563EB"/>
                </a:solidFill>
                <a:latin typeface="Arial" pitchFamily="34" charset="0"/>
                <a:ea typeface="Arial" pitchFamily="34" charset="-122"/>
                <a:cs typeface="Arial" pitchFamily="34" charset="-120"/>
              </a:rPr>
              <a:t>NHÓM DỰ KIẾN BÀN GIAO</a:t>
            </a:r>
            <a:endParaRPr lang="en-US" sz="1050" dirty="0"/>
          </a:p>
        </p:txBody>
      </p:sp>
      <p:sp>
        <p:nvSpPr>
          <p:cNvPr id="9" name="Shape 7"/>
          <p:cNvSpPr/>
          <p:nvPr/>
        </p:nvSpPr>
        <p:spPr>
          <a:xfrm>
            <a:off x="952500" y="2333625"/>
            <a:ext cx="0" cy="2914650"/>
          </a:xfrm>
          <a:prstGeom prst="line">
            <a:avLst/>
          </a:prstGeom>
          <a:solidFill>
            <a:srgbClr val="FFFFFF">
              <a:alpha val="0"/>
            </a:srgbClr>
          </a:solidFill>
          <a:ln w="661">
            <a:solidFill>
              <a:srgbClr val="42C7D9"/>
            </a:solidFill>
            <a:prstDash val="solid"/>
          </a:ln>
        </p:spPr>
      </p:sp>
      <p:sp>
        <p:nvSpPr>
          <p:cNvPr id="10" name="Text 8"/>
          <p:cNvSpPr/>
          <p:nvPr/>
        </p:nvSpPr>
        <p:spPr>
          <a:xfrm>
            <a:off x="1238250" y="2152650"/>
            <a:ext cx="4095750" cy="323850"/>
          </a:xfrm>
          <a:prstGeom prst="rect">
            <a:avLst/>
          </a:prstGeom>
          <a:noFill/>
          <a:ln/>
        </p:spPr>
        <p:txBody>
          <a:bodyPr wrap="square" lIns="0" tIns="0" rIns="0" bIns="0" rtlCol="0" anchor="t">
            <a:normAutofit/>
          </a:bodyPr>
          <a:lstStyle/>
          <a:p>
            <a:pPr algn="l" indent="0" marL="0">
              <a:buNone/>
            </a:pPr>
            <a:r>
              <a:rPr lang="en-US" sz="1875" b="1" dirty="0">
                <a:solidFill>
                  <a:srgbClr val="0B1730"/>
                </a:solidFill>
                <a:latin typeface="Arial" pitchFamily="34" charset="0"/>
                <a:ea typeface="Arial" pitchFamily="34" charset="-122"/>
                <a:cs typeface="Arial" pitchFamily="34" charset="-120"/>
              </a:rPr>
              <a:t>01  Phần mềm tích hợp</a:t>
            </a:r>
            <a:endParaRPr lang="en-US" sz="1875" dirty="0"/>
          </a:p>
        </p:txBody>
      </p:sp>
      <p:sp>
        <p:nvSpPr>
          <p:cNvPr id="11" name="Text 9"/>
          <p:cNvSpPr/>
          <p:nvPr/>
        </p:nvSpPr>
        <p:spPr>
          <a:xfrm>
            <a:off x="1238250" y="2562225"/>
            <a:ext cx="4000500" cy="514350"/>
          </a:xfrm>
          <a:prstGeom prst="rect">
            <a:avLst/>
          </a:prstGeom>
          <a:noFill/>
          <a:ln/>
        </p:spPr>
        <p:txBody>
          <a:bodyPr wrap="square" lIns="0" tIns="0" rIns="0" bIns="0" rtlCol="0" anchor="t">
            <a:normAutofit/>
          </a:bodyPr>
          <a:lstStyle/>
          <a:p>
            <a:pPr algn="l" indent="0" marL="0">
              <a:buNone/>
            </a:pPr>
            <a:r>
              <a:rPr lang="en-US" sz="1425" dirty="0">
                <a:solidFill>
                  <a:srgbClr val="54657A"/>
                </a:solidFill>
                <a:latin typeface="Arial" pitchFamily="34" charset="0"/>
                <a:ea typeface="Arial" pitchFamily="34" charset="-122"/>
                <a:cs typeface="Arial" pitchFamily="34" charset="-120"/>
              </a:rPr>
              <a:t>SmartCV có lọc CV, phân tích hồ sơ và phỏng vấn thử bằng AI.</a:t>
            </a:r>
            <a:endParaRPr lang="en-US" sz="1425" dirty="0"/>
          </a:p>
        </p:txBody>
      </p:sp>
      <p:sp>
        <p:nvSpPr>
          <p:cNvPr id="12" name="Text 10"/>
          <p:cNvSpPr/>
          <p:nvPr/>
        </p:nvSpPr>
        <p:spPr>
          <a:xfrm>
            <a:off x="5810250" y="2152650"/>
            <a:ext cx="4572000" cy="323850"/>
          </a:xfrm>
          <a:prstGeom prst="rect">
            <a:avLst/>
          </a:prstGeom>
          <a:noFill/>
          <a:ln/>
        </p:spPr>
        <p:txBody>
          <a:bodyPr wrap="square" lIns="0" tIns="0" rIns="0" bIns="0" rtlCol="0" anchor="t">
            <a:normAutofit/>
          </a:bodyPr>
          <a:lstStyle/>
          <a:p>
            <a:pPr algn="l" indent="0" marL="0">
              <a:buNone/>
            </a:pPr>
            <a:r>
              <a:rPr lang="en-US" sz="1875" b="1" dirty="0">
                <a:solidFill>
                  <a:srgbClr val="0B1730"/>
                </a:solidFill>
                <a:latin typeface="Arial" pitchFamily="34" charset="0"/>
                <a:ea typeface="Arial" pitchFamily="34" charset="-122"/>
                <a:cs typeface="Arial" pitchFamily="34" charset="-120"/>
              </a:rPr>
              <a:t>02  Bộ dữ liệu và mô hình</a:t>
            </a:r>
            <a:endParaRPr lang="en-US" sz="1875" dirty="0"/>
          </a:p>
        </p:txBody>
      </p:sp>
      <p:sp>
        <p:nvSpPr>
          <p:cNvPr id="13" name="Text 11"/>
          <p:cNvSpPr/>
          <p:nvPr/>
        </p:nvSpPr>
        <p:spPr>
          <a:xfrm>
            <a:off x="5810250" y="2562225"/>
            <a:ext cx="5048250" cy="723900"/>
          </a:xfrm>
          <a:prstGeom prst="rect">
            <a:avLst/>
          </a:prstGeom>
          <a:noFill/>
          <a:ln/>
        </p:spPr>
        <p:txBody>
          <a:bodyPr wrap="square" lIns="0" tIns="0" rIns="0" bIns="0" rtlCol="0" anchor="t">
            <a:normAutofit/>
          </a:bodyPr>
          <a:lstStyle/>
          <a:p>
            <a:pPr algn="l" indent="0" marL="0">
              <a:buNone/>
            </a:pPr>
            <a:r>
              <a:rPr lang="en-US" sz="1425" dirty="0">
                <a:solidFill>
                  <a:srgbClr val="54657A"/>
                </a:solidFill>
                <a:latin typeface="Arial" pitchFamily="34" charset="0"/>
                <a:ea typeface="Arial" pitchFamily="34" charset="-122"/>
                <a:cs typeface="Arial" pitchFamily="34" charset="-120"/>
              </a:rPr>
              <a:t>Dữ liệu CV–JD đã xử lý phù hợp phạm vi được phép, cùng cấu hình mô hình và quy trình suy luận cục bộ.</a:t>
            </a:r>
            <a:endParaRPr lang="en-US" sz="1425" dirty="0"/>
          </a:p>
        </p:txBody>
      </p:sp>
      <p:sp>
        <p:nvSpPr>
          <p:cNvPr id="14" name="Shape 12"/>
          <p:cNvSpPr/>
          <p:nvPr/>
        </p:nvSpPr>
        <p:spPr>
          <a:xfrm>
            <a:off x="5524500" y="2333625"/>
            <a:ext cx="0" cy="2914650"/>
          </a:xfrm>
          <a:prstGeom prst="line">
            <a:avLst/>
          </a:prstGeom>
          <a:solidFill>
            <a:srgbClr val="FFFFFF">
              <a:alpha val="0"/>
            </a:srgbClr>
          </a:solidFill>
          <a:ln w="661">
            <a:solidFill>
              <a:srgbClr val="42C7D9"/>
            </a:solidFill>
            <a:prstDash val="solid"/>
          </a:ln>
        </p:spPr>
      </p:sp>
      <p:sp>
        <p:nvSpPr>
          <p:cNvPr id="15" name="Shape 13"/>
          <p:cNvSpPr/>
          <p:nvPr/>
        </p:nvSpPr>
        <p:spPr>
          <a:xfrm>
            <a:off x="952500" y="4095750"/>
            <a:ext cx="0" cy="1143000"/>
          </a:xfrm>
          <a:prstGeom prst="line">
            <a:avLst/>
          </a:prstGeom>
          <a:solidFill>
            <a:srgbClr val="FFFFFF">
              <a:alpha val="0"/>
            </a:srgbClr>
          </a:solidFill>
          <a:ln w="397">
            <a:solidFill>
              <a:srgbClr val="D8E2EE"/>
            </a:solidFill>
            <a:prstDash val="solid"/>
          </a:ln>
        </p:spPr>
      </p:sp>
      <p:sp>
        <p:nvSpPr>
          <p:cNvPr id="16" name="Text 14"/>
          <p:cNvSpPr/>
          <p:nvPr/>
        </p:nvSpPr>
        <p:spPr>
          <a:xfrm>
            <a:off x="1238250" y="3971925"/>
            <a:ext cx="4095750" cy="323850"/>
          </a:xfrm>
          <a:prstGeom prst="rect">
            <a:avLst/>
          </a:prstGeom>
          <a:noFill/>
          <a:ln/>
        </p:spPr>
        <p:txBody>
          <a:bodyPr wrap="square" lIns="0" tIns="0" rIns="0" bIns="0" rtlCol="0" anchor="t">
            <a:normAutofit/>
          </a:bodyPr>
          <a:lstStyle/>
          <a:p>
            <a:pPr algn="l" indent="0" marL="0">
              <a:buNone/>
            </a:pPr>
            <a:r>
              <a:rPr lang="en-US" sz="1875" b="1" dirty="0">
                <a:solidFill>
                  <a:srgbClr val="0B1730"/>
                </a:solidFill>
                <a:latin typeface="Arial" pitchFamily="34" charset="0"/>
                <a:ea typeface="Arial" pitchFamily="34" charset="-122"/>
                <a:cs typeface="Arial" pitchFamily="34" charset="-120"/>
              </a:rPr>
              <a:t>03  Báo cáo thực nghiệm</a:t>
            </a:r>
            <a:endParaRPr lang="en-US" sz="1875" dirty="0"/>
          </a:p>
        </p:txBody>
      </p:sp>
      <p:sp>
        <p:nvSpPr>
          <p:cNvPr id="17" name="Text 15"/>
          <p:cNvSpPr/>
          <p:nvPr/>
        </p:nvSpPr>
        <p:spPr>
          <a:xfrm>
            <a:off x="1238250" y="4381500"/>
            <a:ext cx="4000500" cy="533400"/>
          </a:xfrm>
          <a:prstGeom prst="rect">
            <a:avLst/>
          </a:prstGeom>
          <a:noFill/>
          <a:ln/>
        </p:spPr>
        <p:txBody>
          <a:bodyPr wrap="square" lIns="0" tIns="0" rIns="0" bIns="0" rtlCol="0" anchor="t">
            <a:normAutofit/>
          </a:bodyPr>
          <a:lstStyle/>
          <a:p>
            <a:pPr algn="l" indent="0" marL="0">
              <a:buNone/>
            </a:pPr>
            <a:r>
              <a:rPr lang="en-US" sz="1425" dirty="0">
                <a:solidFill>
                  <a:srgbClr val="54657A"/>
                </a:solidFill>
                <a:latin typeface="Arial" pitchFamily="34" charset="0"/>
                <a:ea typeface="Arial" pitchFamily="34" charset="-122"/>
                <a:cs typeface="Arial" pitchFamily="34" charset="-120"/>
              </a:rPr>
              <a:t>So sánh chất lượng, tốc độ và giới hạn triển khai; nêu rõ kết quả đo được.</a:t>
            </a:r>
            <a:endParaRPr lang="en-US" sz="1425" dirty="0"/>
          </a:p>
        </p:txBody>
      </p:sp>
      <p:sp>
        <p:nvSpPr>
          <p:cNvPr id="18" name="Shape 16"/>
          <p:cNvSpPr/>
          <p:nvPr/>
        </p:nvSpPr>
        <p:spPr>
          <a:xfrm>
            <a:off x="5524500" y="4095750"/>
            <a:ext cx="0" cy="1143000"/>
          </a:xfrm>
          <a:prstGeom prst="line">
            <a:avLst/>
          </a:prstGeom>
          <a:solidFill>
            <a:srgbClr val="FFFFFF">
              <a:alpha val="0"/>
            </a:srgbClr>
          </a:solidFill>
          <a:ln w="397">
            <a:solidFill>
              <a:srgbClr val="D8E2EE"/>
            </a:solidFill>
            <a:prstDash val="solid"/>
          </a:ln>
        </p:spPr>
      </p:sp>
      <p:sp>
        <p:nvSpPr>
          <p:cNvPr id="19" name="Text 17"/>
          <p:cNvSpPr/>
          <p:nvPr/>
        </p:nvSpPr>
        <p:spPr>
          <a:xfrm>
            <a:off x="5810250" y="3971925"/>
            <a:ext cx="4572000" cy="323850"/>
          </a:xfrm>
          <a:prstGeom prst="rect">
            <a:avLst/>
          </a:prstGeom>
          <a:noFill/>
          <a:ln/>
        </p:spPr>
        <p:txBody>
          <a:bodyPr wrap="square" lIns="0" tIns="0" rIns="0" bIns="0" rtlCol="0" anchor="t">
            <a:normAutofit/>
          </a:bodyPr>
          <a:lstStyle/>
          <a:p>
            <a:pPr algn="l" indent="0" marL="0">
              <a:buNone/>
            </a:pPr>
            <a:r>
              <a:rPr lang="en-US" sz="1875" b="1" dirty="0">
                <a:solidFill>
                  <a:srgbClr val="0B1730"/>
                </a:solidFill>
                <a:latin typeface="Arial" pitchFamily="34" charset="0"/>
                <a:ea typeface="Arial" pitchFamily="34" charset="-122"/>
                <a:cs typeface="Arial" pitchFamily="34" charset="-120"/>
              </a:rPr>
              <a:t>04  Tài liệu nghiên cứu</a:t>
            </a:r>
            <a:endParaRPr lang="en-US" sz="1875" dirty="0"/>
          </a:p>
        </p:txBody>
      </p:sp>
      <p:sp>
        <p:nvSpPr>
          <p:cNvPr id="20" name="Text 18"/>
          <p:cNvSpPr/>
          <p:nvPr/>
        </p:nvSpPr>
        <p:spPr>
          <a:xfrm>
            <a:off x="5810250" y="4381500"/>
            <a:ext cx="4857750" cy="533400"/>
          </a:xfrm>
          <a:prstGeom prst="rect">
            <a:avLst/>
          </a:prstGeom>
          <a:noFill/>
          <a:ln/>
        </p:spPr>
        <p:txBody>
          <a:bodyPr wrap="square" lIns="0" tIns="0" rIns="0" bIns="0" rtlCol="0" anchor="t">
            <a:normAutofit/>
          </a:bodyPr>
          <a:lstStyle/>
          <a:p>
            <a:pPr algn="l" indent="0" marL="0">
              <a:buNone/>
            </a:pPr>
            <a:r>
              <a:rPr lang="en-US" sz="1425" dirty="0">
                <a:solidFill>
                  <a:srgbClr val="54657A"/>
                </a:solidFill>
                <a:latin typeface="Arial" pitchFamily="34" charset="0"/>
                <a:ea typeface="Arial" pitchFamily="34" charset="-122"/>
                <a:cs typeface="Arial" pitchFamily="34" charset="-120"/>
              </a:rPr>
              <a:t>Báo cáo đề tài và bản thảo bài báo theo kết quả thực nghiệm.</a:t>
            </a:r>
            <a:endParaRPr lang="en-US" sz="1425" dirty="0"/>
          </a:p>
        </p:txBody>
      </p:sp>
      <p:sp>
        <p:nvSpPr>
          <p:cNvPr id="21" name="Shape 19"/>
          <p:cNvSpPr/>
          <p:nvPr/>
        </p:nvSpPr>
        <p:spPr>
          <a:xfrm>
            <a:off x="781050" y="5410200"/>
            <a:ext cx="10553700" cy="495300"/>
          </a:xfrm>
          <a:prstGeom prst="roundRect">
            <a:avLst/>
          </a:prstGeom>
          <a:solidFill>
            <a:srgbClr val="EAF2FA"/>
          </a:solidFill>
          <a:ln w="12700">
            <a:solidFill>
              <a:srgbClr val="FFFFFF">
                <a:alpha val="0"/>
              </a:srgbClr>
            </a:solidFill>
            <a:prstDash val="solid"/>
          </a:ln>
        </p:spPr>
      </p:sp>
      <p:sp>
        <p:nvSpPr>
          <p:cNvPr id="22" name="Text 20"/>
          <p:cNvSpPr/>
          <p:nvPr/>
        </p:nvSpPr>
        <p:spPr>
          <a:xfrm>
            <a:off x="971550" y="5553075"/>
            <a:ext cx="10096500" cy="228600"/>
          </a:xfrm>
          <a:prstGeom prst="rect">
            <a:avLst/>
          </a:prstGeom>
          <a:noFill/>
          <a:ln/>
        </p:spPr>
        <p:txBody>
          <a:bodyPr wrap="square" lIns="0" tIns="0" rIns="0" bIns="0" rtlCol="0" anchor="t">
            <a:normAutofit/>
          </a:bodyPr>
          <a:lstStyle/>
          <a:p>
            <a:pPr algn="l" indent="0" marL="0">
              <a:buNone/>
            </a:pPr>
            <a:r>
              <a:rPr lang="en-US" sz="1275" b="1" dirty="0">
                <a:solidFill>
                  <a:srgbClr val="0B1730"/>
                </a:solidFill>
                <a:latin typeface="Arial" pitchFamily="34" charset="0"/>
                <a:ea typeface="Arial" pitchFamily="34" charset="-122"/>
                <a:cs typeface="Arial" pitchFamily="34" charset="-120"/>
              </a:rPr>
              <a:t>Các ngưỡng độ chính xác, độ trễ và quy mô dữ liệu sẽ được kiểm chứng trong thực nghiệm.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6997" cy="95250"/>
          </a:xfrm>
          <a:prstGeom prst="rect">
            <a:avLst/>
          </a:prstGeom>
          <a:solidFill>
            <a:srgbClr val="42C7D9"/>
          </a:solidFill>
          <a:ln w="12700">
            <a:solidFill>
              <a:srgbClr val="FFFFFF">
                <a:alpha val="0"/>
              </a:srgbClr>
            </a:solidFill>
            <a:prstDash val="solid"/>
          </a:ln>
        </p:spPr>
      </p:sp>
      <p:sp>
        <p:nvSpPr>
          <p:cNvPr id="3" name="Text 1"/>
          <p:cNvSpPr/>
          <p:nvPr/>
        </p:nvSpPr>
        <p:spPr>
          <a:xfrm>
            <a:off x="723900" y="361950"/>
            <a:ext cx="6096000" cy="228600"/>
          </a:xfrm>
          <a:prstGeom prst="rect">
            <a:avLst/>
          </a:prstGeom>
          <a:noFill/>
          <a:ln/>
        </p:spPr>
        <p:txBody>
          <a:bodyPr wrap="square" lIns="0" tIns="0" rIns="0" bIns="0" rtlCol="0" anchor="t">
            <a:normAutofit/>
          </a:bodyPr>
          <a:lstStyle/>
          <a:p>
            <a:pPr algn="l" indent="0" marL="0">
              <a:buNone/>
            </a:pPr>
            <a:r>
              <a:rPr lang="en-US" sz="1050" b="1" dirty="0">
                <a:solidFill>
                  <a:srgbClr val="2563EB"/>
                </a:solidFill>
                <a:latin typeface="Arial" pitchFamily="34" charset="0"/>
                <a:ea typeface="Arial" pitchFamily="34" charset="-122"/>
                <a:cs typeface="Arial" pitchFamily="34" charset="-120"/>
              </a:rPr>
              <a:t>KẾ HOẠCH TRIỂN KHAI</a:t>
            </a:r>
            <a:endParaRPr lang="en-US" sz="1050" dirty="0"/>
          </a:p>
        </p:txBody>
      </p:sp>
      <p:sp>
        <p:nvSpPr>
          <p:cNvPr id="4" name="Text 2"/>
          <p:cNvSpPr/>
          <p:nvPr/>
        </p:nvSpPr>
        <p:spPr>
          <a:xfrm>
            <a:off x="723900" y="685800"/>
            <a:ext cx="10744200" cy="571500"/>
          </a:xfrm>
          <a:prstGeom prst="rect">
            <a:avLst/>
          </a:prstGeom>
          <a:noFill/>
          <a:ln/>
        </p:spPr>
        <p:txBody>
          <a:bodyPr wrap="square" lIns="0" tIns="0" rIns="0" bIns="0" rtlCol="0" anchor="t">
            <a:normAutofit/>
          </a:bodyPr>
          <a:lstStyle/>
          <a:p>
            <a:pPr algn="l" indent="0" marL="0">
              <a:buNone/>
            </a:pPr>
            <a:r>
              <a:rPr lang="en-US" sz="2550" b="1" dirty="0">
                <a:solidFill>
                  <a:srgbClr val="0B1730"/>
                </a:solidFill>
                <a:latin typeface="Arial" pitchFamily="34" charset="0"/>
                <a:ea typeface="Arial" pitchFamily="34" charset="-122"/>
                <a:cs typeface="Arial" pitchFamily="34" charset="-120"/>
              </a:rPr>
              <a:t>Lộ trình dự kiến trong 12 tuần</a:t>
            </a:r>
            <a:endParaRPr lang="en-US" sz="2550" dirty="0"/>
          </a:p>
        </p:txBody>
      </p:sp>
      <p:sp>
        <p:nvSpPr>
          <p:cNvPr id="5" name="Shape 3"/>
          <p:cNvSpPr/>
          <p:nvPr/>
        </p:nvSpPr>
        <p:spPr>
          <a:xfrm>
            <a:off x="723900" y="1390650"/>
            <a:ext cx="10744200" cy="0"/>
          </a:xfrm>
          <a:prstGeom prst="line">
            <a:avLst/>
          </a:prstGeom>
          <a:solidFill>
            <a:srgbClr val="FFFFFF">
              <a:alpha val="0"/>
            </a:srgbClr>
          </a:solidFill>
          <a:ln w="132">
            <a:solidFill>
              <a:srgbClr val="D8E2EE"/>
            </a:solidFill>
            <a:prstDash val="solid"/>
          </a:ln>
        </p:spPr>
      </p:sp>
      <p:sp>
        <p:nvSpPr>
          <p:cNvPr id="6" name="Text 4"/>
          <p:cNvSpPr/>
          <p:nvPr/>
        </p:nvSpPr>
        <p:spPr>
          <a:xfrm>
            <a:off x="723900" y="6496050"/>
            <a:ext cx="5715000" cy="171450"/>
          </a:xfrm>
          <a:prstGeom prst="rect">
            <a:avLst/>
          </a:prstGeom>
          <a:noFill/>
          <a:ln/>
        </p:spPr>
        <p:txBody>
          <a:bodyPr wrap="square" lIns="0" tIns="0" rIns="0" bIns="0" rtlCol="0" anchor="t">
            <a:normAutofit/>
          </a:bodyPr>
          <a:lstStyle/>
          <a:p>
            <a:pPr algn="l" indent="0" marL="0">
              <a:buNone/>
            </a:pPr>
            <a:r>
              <a:rPr lang="en-US" sz="900" b="1" dirty="0">
                <a:solidFill>
                  <a:srgbClr val="54657A"/>
                </a:solidFill>
                <a:latin typeface="Arial" pitchFamily="34" charset="0"/>
                <a:ea typeface="Arial" pitchFamily="34" charset="-122"/>
                <a:cs typeface="Arial" pitchFamily="34" charset="-120"/>
              </a:rPr>
              <a:t>SMARTCV AI  /  ĐỀ XUẤT NGHIÊN CỨU</a:t>
            </a:r>
            <a:endParaRPr lang="en-US" sz="900" dirty="0"/>
          </a:p>
        </p:txBody>
      </p:sp>
      <p:sp>
        <p:nvSpPr>
          <p:cNvPr id="7" name="Text 5"/>
          <p:cNvSpPr/>
          <p:nvPr/>
        </p:nvSpPr>
        <p:spPr>
          <a:xfrm>
            <a:off x="10001250" y="6477000"/>
            <a:ext cx="1466850" cy="190500"/>
          </a:xfrm>
          <a:prstGeom prst="rect">
            <a:avLst/>
          </a:prstGeom>
          <a:noFill/>
          <a:ln/>
        </p:spPr>
        <p:txBody>
          <a:bodyPr wrap="square" lIns="0" tIns="0" rIns="0" bIns="0" rtlCol="0" anchor="t">
            <a:normAutofit/>
          </a:bodyPr>
          <a:lstStyle/>
          <a:p>
            <a:pPr algn="r" indent="0" marL="0">
              <a:buNone/>
            </a:pPr>
            <a:r>
              <a:rPr lang="en-US" sz="900" dirty="0">
                <a:solidFill>
                  <a:srgbClr val="54657A"/>
                </a:solidFill>
                <a:latin typeface="Arial" pitchFamily="34" charset="0"/>
                <a:ea typeface="Arial" pitchFamily="34" charset="-122"/>
                <a:cs typeface="Arial" pitchFamily="34" charset="-120"/>
              </a:rPr>
              <a:t>06   ·   3:05–3:45</a:t>
            </a:r>
            <a:endParaRPr lang="en-US" sz="900" dirty="0"/>
          </a:p>
        </p:txBody>
      </p:sp>
      <p:sp>
        <p:nvSpPr>
          <p:cNvPr id="8" name="Shape 6"/>
          <p:cNvSpPr/>
          <p:nvPr/>
        </p:nvSpPr>
        <p:spPr>
          <a:xfrm>
            <a:off x="1066800" y="2828925"/>
            <a:ext cx="9886950" cy="0"/>
          </a:xfrm>
          <a:prstGeom prst="line">
            <a:avLst/>
          </a:prstGeom>
          <a:solidFill>
            <a:srgbClr val="FFFFFF">
              <a:alpha val="0"/>
            </a:srgbClr>
          </a:solidFill>
          <a:ln w="529">
            <a:solidFill>
              <a:srgbClr val="D8E2EE"/>
            </a:solidFill>
            <a:prstDash val="solid"/>
          </a:ln>
        </p:spPr>
      </p:sp>
      <p:sp>
        <p:nvSpPr>
          <p:cNvPr id="9" name="Shape 7"/>
          <p:cNvSpPr/>
          <p:nvPr/>
        </p:nvSpPr>
        <p:spPr>
          <a:xfrm>
            <a:off x="1143000" y="2686050"/>
            <a:ext cx="285750" cy="285750"/>
          </a:xfrm>
          <a:prstGeom prst="ellipse">
            <a:avLst/>
          </a:prstGeom>
          <a:solidFill>
            <a:srgbClr val="42C7D9"/>
          </a:solidFill>
          <a:ln w="12700">
            <a:solidFill>
              <a:srgbClr val="FFFFFF">
                <a:alpha val="0"/>
              </a:srgbClr>
            </a:solidFill>
            <a:prstDash val="solid"/>
          </a:ln>
        </p:spPr>
      </p:sp>
      <p:sp>
        <p:nvSpPr>
          <p:cNvPr id="10" name="Text 8"/>
          <p:cNvSpPr/>
          <p:nvPr/>
        </p:nvSpPr>
        <p:spPr>
          <a:xfrm>
            <a:off x="933450" y="1838325"/>
            <a:ext cx="2095500" cy="209550"/>
          </a:xfrm>
          <a:prstGeom prst="rect">
            <a:avLst/>
          </a:prstGeom>
          <a:noFill/>
          <a:ln/>
        </p:spPr>
        <p:txBody>
          <a:bodyPr wrap="square" lIns="0" tIns="0" rIns="0" bIns="0" rtlCol="0" anchor="t">
            <a:normAutofit/>
          </a:bodyPr>
          <a:lstStyle/>
          <a:p>
            <a:pPr algn="l" indent="0" marL="0">
              <a:buNone/>
            </a:pPr>
            <a:r>
              <a:rPr lang="en-US" sz="1050" b="1" dirty="0">
                <a:solidFill>
                  <a:srgbClr val="2563EB"/>
                </a:solidFill>
                <a:latin typeface="Arial" pitchFamily="34" charset="0"/>
                <a:ea typeface="Arial" pitchFamily="34" charset="-122"/>
                <a:cs typeface="Arial" pitchFamily="34" charset="-120"/>
              </a:rPr>
              <a:t>TUẦN 1–2</a:t>
            </a:r>
            <a:endParaRPr lang="en-US" sz="1050" dirty="0"/>
          </a:p>
        </p:txBody>
      </p:sp>
      <p:sp>
        <p:nvSpPr>
          <p:cNvPr id="11" name="Text 9"/>
          <p:cNvSpPr/>
          <p:nvPr/>
        </p:nvSpPr>
        <p:spPr>
          <a:xfrm>
            <a:off x="933450" y="3171825"/>
            <a:ext cx="2095500" cy="323850"/>
          </a:xfrm>
          <a:prstGeom prst="rect">
            <a:avLst/>
          </a:prstGeom>
          <a:noFill/>
          <a:ln/>
        </p:spPr>
        <p:txBody>
          <a:bodyPr wrap="square" lIns="0" tIns="0" rIns="0" bIns="0" rtlCol="0" anchor="t">
            <a:normAutofit/>
          </a:bodyPr>
          <a:lstStyle/>
          <a:p>
            <a:pPr algn="l" indent="0" marL="0">
              <a:buNone/>
            </a:pPr>
            <a:r>
              <a:rPr lang="en-US" sz="1875" b="1" dirty="0">
                <a:solidFill>
                  <a:srgbClr val="0B1730"/>
                </a:solidFill>
                <a:latin typeface="Arial" pitchFamily="34" charset="0"/>
                <a:ea typeface="Arial" pitchFamily="34" charset="-122"/>
                <a:cs typeface="Arial" pitchFamily="34" charset="-120"/>
              </a:rPr>
              <a:t>Dữ liệu</a:t>
            </a:r>
            <a:endParaRPr lang="en-US" sz="1875" dirty="0"/>
          </a:p>
        </p:txBody>
      </p:sp>
      <p:sp>
        <p:nvSpPr>
          <p:cNvPr id="12" name="Text 10"/>
          <p:cNvSpPr/>
          <p:nvPr/>
        </p:nvSpPr>
        <p:spPr>
          <a:xfrm>
            <a:off x="933450" y="3648075"/>
            <a:ext cx="2190750" cy="1047750"/>
          </a:xfrm>
          <a:prstGeom prst="rect">
            <a:avLst/>
          </a:prstGeom>
          <a:noFill/>
          <a:ln/>
        </p:spPr>
        <p:txBody>
          <a:bodyPr wrap="square" lIns="0" tIns="0" rIns="0" bIns="0" rtlCol="0" anchor="t">
            <a:normAutofit/>
          </a:bodyPr>
          <a:lstStyle/>
          <a:p>
            <a:pPr algn="l" indent="0" marL="0">
              <a:buNone/>
            </a:pPr>
            <a:r>
              <a:rPr lang="en-US" sz="1350" dirty="0">
                <a:solidFill>
                  <a:srgbClr val="54657A"/>
                </a:solidFill>
                <a:latin typeface="Arial" pitchFamily="34" charset="0"/>
                <a:ea typeface="Arial" pitchFamily="34" charset="-122"/>
                <a:cs typeface="Arial" pitchFamily="34" charset="-120"/>
              </a:rPr>
              <a:t>Khảo sát nguồn</a:t>
            </a:r>
            <a:endParaRPr lang="en-US" sz="1350" dirty="0"/>
          </a:p>
          <a:p>
            <a:pPr algn="l" indent="0" marL="0">
              <a:buNone/>
            </a:pPr>
            <a:r>
              <a:rPr lang="en-US" sz="1350" dirty="0">
                <a:solidFill>
                  <a:srgbClr val="54657A"/>
                </a:solidFill>
                <a:latin typeface="Arial" pitchFamily="34" charset="0"/>
                <a:ea typeface="Arial" pitchFamily="34" charset="-122"/>
                <a:cs typeface="Arial" pitchFamily="34" charset="-120"/>
              </a:rPr>
              <a:t>Làm sạch, ẩn danh</a:t>
            </a:r>
            <a:endParaRPr lang="en-US" sz="1350" dirty="0"/>
          </a:p>
          <a:p>
            <a:pPr algn="l" indent="0" marL="0">
              <a:buNone/>
            </a:pPr>
            <a:r>
              <a:rPr lang="en-US" sz="1350" dirty="0">
                <a:solidFill>
                  <a:srgbClr val="54657A"/>
                </a:solidFill>
                <a:latin typeface="Arial" pitchFamily="34" charset="0"/>
                <a:ea typeface="Arial" pitchFamily="34" charset="-122"/>
                <a:cs typeface="Arial" pitchFamily="34" charset="-120"/>
              </a:rPr>
              <a:t>Gán nhãn mẫu</a:t>
            </a:r>
            <a:endParaRPr lang="en-US" sz="1350" dirty="0"/>
          </a:p>
        </p:txBody>
      </p:sp>
      <p:sp>
        <p:nvSpPr>
          <p:cNvPr id="13" name="Shape 11"/>
          <p:cNvSpPr/>
          <p:nvPr/>
        </p:nvSpPr>
        <p:spPr>
          <a:xfrm>
            <a:off x="3886200" y="2686050"/>
            <a:ext cx="285750" cy="285750"/>
          </a:xfrm>
          <a:prstGeom prst="ellipse">
            <a:avLst/>
          </a:prstGeom>
          <a:solidFill>
            <a:srgbClr val="2563EB"/>
          </a:solidFill>
          <a:ln w="12700">
            <a:solidFill>
              <a:srgbClr val="FFFFFF">
                <a:alpha val="0"/>
              </a:srgbClr>
            </a:solidFill>
            <a:prstDash val="solid"/>
          </a:ln>
        </p:spPr>
      </p:sp>
      <p:sp>
        <p:nvSpPr>
          <p:cNvPr id="14" name="Text 12"/>
          <p:cNvSpPr/>
          <p:nvPr/>
        </p:nvSpPr>
        <p:spPr>
          <a:xfrm>
            <a:off x="3676650" y="1838325"/>
            <a:ext cx="2095500" cy="209550"/>
          </a:xfrm>
          <a:prstGeom prst="rect">
            <a:avLst/>
          </a:prstGeom>
          <a:noFill/>
          <a:ln/>
        </p:spPr>
        <p:txBody>
          <a:bodyPr wrap="square" lIns="0" tIns="0" rIns="0" bIns="0" rtlCol="0" anchor="t">
            <a:normAutofit/>
          </a:bodyPr>
          <a:lstStyle/>
          <a:p>
            <a:pPr algn="l" indent="0" marL="0">
              <a:buNone/>
            </a:pPr>
            <a:r>
              <a:rPr lang="en-US" sz="1050" b="1" dirty="0">
                <a:solidFill>
                  <a:srgbClr val="2563EB"/>
                </a:solidFill>
                <a:latin typeface="Arial" pitchFamily="34" charset="0"/>
                <a:ea typeface="Arial" pitchFamily="34" charset="-122"/>
                <a:cs typeface="Arial" pitchFamily="34" charset="-120"/>
              </a:rPr>
              <a:t>TUẦN 3–5</a:t>
            </a:r>
            <a:endParaRPr lang="en-US" sz="1050" dirty="0"/>
          </a:p>
        </p:txBody>
      </p:sp>
      <p:sp>
        <p:nvSpPr>
          <p:cNvPr id="15" name="Text 13"/>
          <p:cNvSpPr/>
          <p:nvPr/>
        </p:nvSpPr>
        <p:spPr>
          <a:xfrm>
            <a:off x="3676650" y="3171825"/>
            <a:ext cx="2095500" cy="323850"/>
          </a:xfrm>
          <a:prstGeom prst="rect">
            <a:avLst/>
          </a:prstGeom>
          <a:noFill/>
          <a:ln/>
        </p:spPr>
        <p:txBody>
          <a:bodyPr wrap="square" lIns="0" tIns="0" rIns="0" bIns="0" rtlCol="0" anchor="t">
            <a:normAutofit/>
          </a:bodyPr>
          <a:lstStyle/>
          <a:p>
            <a:pPr algn="l" indent="0" marL="0">
              <a:buNone/>
            </a:pPr>
            <a:r>
              <a:rPr lang="en-US" sz="1875" b="1" dirty="0">
                <a:solidFill>
                  <a:srgbClr val="0B1730"/>
                </a:solidFill>
                <a:latin typeface="Arial" pitchFamily="34" charset="0"/>
                <a:ea typeface="Arial" pitchFamily="34" charset="-122"/>
                <a:cs typeface="Arial" pitchFamily="34" charset="-120"/>
              </a:rPr>
              <a:t>Mô hình</a:t>
            </a:r>
            <a:endParaRPr lang="en-US" sz="1875" dirty="0"/>
          </a:p>
        </p:txBody>
      </p:sp>
      <p:sp>
        <p:nvSpPr>
          <p:cNvPr id="16" name="Text 14"/>
          <p:cNvSpPr/>
          <p:nvPr/>
        </p:nvSpPr>
        <p:spPr>
          <a:xfrm>
            <a:off x="3676650" y="3648075"/>
            <a:ext cx="2190750" cy="1047750"/>
          </a:xfrm>
          <a:prstGeom prst="rect">
            <a:avLst/>
          </a:prstGeom>
          <a:noFill/>
          <a:ln/>
        </p:spPr>
        <p:txBody>
          <a:bodyPr wrap="square" lIns="0" tIns="0" rIns="0" bIns="0" rtlCol="0" anchor="t">
            <a:normAutofit/>
          </a:bodyPr>
          <a:lstStyle/>
          <a:p>
            <a:pPr algn="l" indent="0" marL="0">
              <a:buNone/>
            </a:pPr>
            <a:r>
              <a:rPr lang="en-US" sz="1350" dirty="0">
                <a:solidFill>
                  <a:srgbClr val="54657A"/>
                </a:solidFill>
                <a:latin typeface="Arial" pitchFamily="34" charset="0"/>
                <a:ea typeface="Arial" pitchFamily="34" charset="-122"/>
                <a:cs typeface="Arial" pitchFamily="34" charset="-120"/>
              </a:rPr>
              <a:t>Thử embedding</a:t>
            </a:r>
            <a:endParaRPr lang="en-US" sz="1350" dirty="0"/>
          </a:p>
          <a:p>
            <a:pPr algn="l" indent="0" marL="0">
              <a:buNone/>
            </a:pPr>
            <a:r>
              <a:rPr lang="en-US" sz="1350" dirty="0">
                <a:solidFill>
                  <a:srgbClr val="54657A"/>
                </a:solidFill>
                <a:latin typeface="Arial" pitchFamily="34" charset="0"/>
                <a:ea typeface="Arial" pitchFamily="34" charset="-122"/>
                <a:cs typeface="Arial" pitchFamily="34" charset="-120"/>
              </a:rPr>
              <a:t>Thiết kế rubric ATS</a:t>
            </a:r>
            <a:endParaRPr lang="en-US" sz="1350" dirty="0"/>
          </a:p>
          <a:p>
            <a:pPr algn="l" indent="0" marL="0">
              <a:buNone/>
            </a:pPr>
            <a:r>
              <a:rPr lang="en-US" sz="1350" dirty="0">
                <a:solidFill>
                  <a:srgbClr val="54657A"/>
                </a:solidFill>
                <a:latin typeface="Arial" pitchFamily="34" charset="0"/>
                <a:ea typeface="Arial" pitchFamily="34" charset="-122"/>
                <a:cs typeface="Arial" pitchFamily="34" charset="-120"/>
              </a:rPr>
              <a:t>Thử mô hình cục bộ</a:t>
            </a:r>
            <a:endParaRPr lang="en-US" sz="1350" dirty="0"/>
          </a:p>
        </p:txBody>
      </p:sp>
      <p:sp>
        <p:nvSpPr>
          <p:cNvPr id="17" name="Shape 15"/>
          <p:cNvSpPr/>
          <p:nvPr/>
        </p:nvSpPr>
        <p:spPr>
          <a:xfrm>
            <a:off x="6629400" y="2686050"/>
            <a:ext cx="285750" cy="285750"/>
          </a:xfrm>
          <a:prstGeom prst="ellipse">
            <a:avLst/>
          </a:prstGeom>
          <a:solidFill>
            <a:srgbClr val="2563EB"/>
          </a:solidFill>
          <a:ln w="12700">
            <a:solidFill>
              <a:srgbClr val="FFFFFF">
                <a:alpha val="0"/>
              </a:srgbClr>
            </a:solidFill>
            <a:prstDash val="solid"/>
          </a:ln>
        </p:spPr>
      </p:sp>
      <p:sp>
        <p:nvSpPr>
          <p:cNvPr id="18" name="Text 16"/>
          <p:cNvSpPr/>
          <p:nvPr/>
        </p:nvSpPr>
        <p:spPr>
          <a:xfrm>
            <a:off x="6419850" y="1838325"/>
            <a:ext cx="2095500" cy="209550"/>
          </a:xfrm>
          <a:prstGeom prst="rect">
            <a:avLst/>
          </a:prstGeom>
          <a:noFill/>
          <a:ln/>
        </p:spPr>
        <p:txBody>
          <a:bodyPr wrap="square" lIns="0" tIns="0" rIns="0" bIns="0" rtlCol="0" anchor="t">
            <a:normAutofit/>
          </a:bodyPr>
          <a:lstStyle/>
          <a:p>
            <a:pPr algn="l" indent="0" marL="0">
              <a:buNone/>
            </a:pPr>
            <a:r>
              <a:rPr lang="en-US" sz="1050" b="1" dirty="0">
                <a:solidFill>
                  <a:srgbClr val="2563EB"/>
                </a:solidFill>
                <a:latin typeface="Arial" pitchFamily="34" charset="0"/>
                <a:ea typeface="Arial" pitchFamily="34" charset="-122"/>
                <a:cs typeface="Arial" pitchFamily="34" charset="-120"/>
              </a:rPr>
              <a:t>TUẦN 6–8</a:t>
            </a:r>
            <a:endParaRPr lang="en-US" sz="1050" dirty="0"/>
          </a:p>
        </p:txBody>
      </p:sp>
      <p:sp>
        <p:nvSpPr>
          <p:cNvPr id="19" name="Text 17"/>
          <p:cNvSpPr/>
          <p:nvPr/>
        </p:nvSpPr>
        <p:spPr>
          <a:xfrm>
            <a:off x="6419850" y="3171825"/>
            <a:ext cx="2095500" cy="323850"/>
          </a:xfrm>
          <a:prstGeom prst="rect">
            <a:avLst/>
          </a:prstGeom>
          <a:noFill/>
          <a:ln/>
        </p:spPr>
        <p:txBody>
          <a:bodyPr wrap="square" lIns="0" tIns="0" rIns="0" bIns="0" rtlCol="0" anchor="t">
            <a:normAutofit/>
          </a:bodyPr>
          <a:lstStyle/>
          <a:p>
            <a:pPr algn="l" indent="0" marL="0">
              <a:buNone/>
            </a:pPr>
            <a:r>
              <a:rPr lang="en-US" sz="1875" b="1" dirty="0">
                <a:solidFill>
                  <a:srgbClr val="0B1730"/>
                </a:solidFill>
                <a:latin typeface="Arial" pitchFamily="34" charset="0"/>
                <a:ea typeface="Arial" pitchFamily="34" charset="-122"/>
                <a:cs typeface="Arial" pitchFamily="34" charset="-120"/>
              </a:rPr>
              <a:t>Tích hợp</a:t>
            </a:r>
            <a:endParaRPr lang="en-US" sz="1875" dirty="0"/>
          </a:p>
        </p:txBody>
      </p:sp>
      <p:sp>
        <p:nvSpPr>
          <p:cNvPr id="20" name="Text 18"/>
          <p:cNvSpPr/>
          <p:nvPr/>
        </p:nvSpPr>
        <p:spPr>
          <a:xfrm>
            <a:off x="6419850" y="3648075"/>
            <a:ext cx="2190750" cy="1047750"/>
          </a:xfrm>
          <a:prstGeom prst="rect">
            <a:avLst/>
          </a:prstGeom>
          <a:noFill/>
          <a:ln/>
        </p:spPr>
        <p:txBody>
          <a:bodyPr wrap="square" lIns="0" tIns="0" rIns="0" bIns="0" rtlCol="0" anchor="t">
            <a:normAutofit/>
          </a:bodyPr>
          <a:lstStyle/>
          <a:p>
            <a:pPr algn="l" indent="0" marL="0">
              <a:buNone/>
            </a:pPr>
            <a:r>
              <a:rPr lang="en-US" sz="1350" dirty="0">
                <a:solidFill>
                  <a:srgbClr val="54657A"/>
                </a:solidFill>
                <a:latin typeface="Arial" pitchFamily="34" charset="0"/>
                <a:ea typeface="Arial" pitchFamily="34" charset="-122"/>
                <a:cs typeface="Arial" pitchFamily="34" charset="-120"/>
              </a:rPr>
              <a:t>Tích hợp 3 module</a:t>
            </a:r>
            <a:endParaRPr lang="en-US" sz="1350" dirty="0"/>
          </a:p>
          <a:p>
            <a:pPr algn="l" indent="0" marL="0">
              <a:buNone/>
            </a:pPr>
            <a:r>
              <a:rPr lang="en-US" sz="1350" dirty="0">
                <a:solidFill>
                  <a:srgbClr val="54657A"/>
                </a:solidFill>
                <a:latin typeface="Arial" pitchFamily="34" charset="0"/>
                <a:ea typeface="Arial" pitchFamily="34" charset="-122"/>
                <a:cs typeface="Arial" pitchFamily="34" charset="-120"/>
              </a:rPr>
              <a:t>Hoàn thiện giao diện</a:t>
            </a:r>
            <a:endParaRPr lang="en-US" sz="1350" dirty="0"/>
          </a:p>
          <a:p>
            <a:pPr algn="l" indent="0" marL="0">
              <a:buNone/>
            </a:pPr>
            <a:r>
              <a:rPr lang="en-US" sz="1350" dirty="0">
                <a:solidFill>
                  <a:srgbClr val="54657A"/>
                </a:solidFill>
                <a:latin typeface="Arial" pitchFamily="34" charset="0"/>
                <a:ea typeface="Arial" pitchFamily="34" charset="-122"/>
                <a:cs typeface="Arial" pitchFamily="34" charset="-120"/>
              </a:rPr>
              <a:t>Kiểm tra luồng dữ liệu</a:t>
            </a:r>
            <a:endParaRPr lang="en-US" sz="1350" dirty="0"/>
          </a:p>
        </p:txBody>
      </p:sp>
      <p:sp>
        <p:nvSpPr>
          <p:cNvPr id="21" name="Shape 19"/>
          <p:cNvSpPr/>
          <p:nvPr/>
        </p:nvSpPr>
        <p:spPr>
          <a:xfrm>
            <a:off x="9372600" y="2686050"/>
            <a:ext cx="285750" cy="285750"/>
          </a:xfrm>
          <a:prstGeom prst="ellipse">
            <a:avLst/>
          </a:prstGeom>
          <a:solidFill>
            <a:srgbClr val="2563EB"/>
          </a:solidFill>
          <a:ln w="12700">
            <a:solidFill>
              <a:srgbClr val="FFFFFF">
                <a:alpha val="0"/>
              </a:srgbClr>
            </a:solidFill>
            <a:prstDash val="solid"/>
          </a:ln>
        </p:spPr>
      </p:sp>
      <p:sp>
        <p:nvSpPr>
          <p:cNvPr id="22" name="Text 20"/>
          <p:cNvSpPr/>
          <p:nvPr/>
        </p:nvSpPr>
        <p:spPr>
          <a:xfrm>
            <a:off x="9163050" y="1838325"/>
            <a:ext cx="2095500" cy="209550"/>
          </a:xfrm>
          <a:prstGeom prst="rect">
            <a:avLst/>
          </a:prstGeom>
          <a:noFill/>
          <a:ln/>
        </p:spPr>
        <p:txBody>
          <a:bodyPr wrap="square" lIns="0" tIns="0" rIns="0" bIns="0" rtlCol="0" anchor="t">
            <a:normAutofit/>
          </a:bodyPr>
          <a:lstStyle/>
          <a:p>
            <a:pPr algn="l" indent="0" marL="0">
              <a:buNone/>
            </a:pPr>
            <a:r>
              <a:rPr lang="en-US" sz="1050" b="1" dirty="0">
                <a:solidFill>
                  <a:srgbClr val="2563EB"/>
                </a:solidFill>
                <a:latin typeface="Arial" pitchFamily="34" charset="0"/>
                <a:ea typeface="Arial" pitchFamily="34" charset="-122"/>
                <a:cs typeface="Arial" pitchFamily="34" charset="-120"/>
              </a:rPr>
              <a:t>TUẦN 9–12</a:t>
            </a:r>
            <a:endParaRPr lang="en-US" sz="1050" dirty="0"/>
          </a:p>
        </p:txBody>
      </p:sp>
      <p:sp>
        <p:nvSpPr>
          <p:cNvPr id="23" name="Text 21"/>
          <p:cNvSpPr/>
          <p:nvPr/>
        </p:nvSpPr>
        <p:spPr>
          <a:xfrm>
            <a:off x="9163050" y="3171825"/>
            <a:ext cx="2095500" cy="323850"/>
          </a:xfrm>
          <a:prstGeom prst="rect">
            <a:avLst/>
          </a:prstGeom>
          <a:noFill/>
          <a:ln/>
        </p:spPr>
        <p:txBody>
          <a:bodyPr wrap="square" lIns="0" tIns="0" rIns="0" bIns="0" rtlCol="0" anchor="t">
            <a:normAutofit/>
          </a:bodyPr>
          <a:lstStyle/>
          <a:p>
            <a:pPr algn="l" indent="0" marL="0">
              <a:buNone/>
            </a:pPr>
            <a:r>
              <a:rPr lang="en-US" sz="1875" b="1" dirty="0">
                <a:solidFill>
                  <a:srgbClr val="0B1730"/>
                </a:solidFill>
                <a:latin typeface="Arial" pitchFamily="34" charset="0"/>
                <a:ea typeface="Arial" pitchFamily="34" charset="-122"/>
                <a:cs typeface="Arial" pitchFamily="34" charset="-120"/>
              </a:rPr>
              <a:t>Thực nghiệm</a:t>
            </a:r>
            <a:endParaRPr lang="en-US" sz="1875" dirty="0"/>
          </a:p>
        </p:txBody>
      </p:sp>
      <p:sp>
        <p:nvSpPr>
          <p:cNvPr id="24" name="Text 22"/>
          <p:cNvSpPr/>
          <p:nvPr/>
        </p:nvSpPr>
        <p:spPr>
          <a:xfrm>
            <a:off x="9163050" y="3648075"/>
            <a:ext cx="2190750" cy="1047750"/>
          </a:xfrm>
          <a:prstGeom prst="rect">
            <a:avLst/>
          </a:prstGeom>
          <a:noFill/>
          <a:ln/>
        </p:spPr>
        <p:txBody>
          <a:bodyPr wrap="square" lIns="0" tIns="0" rIns="0" bIns="0" rtlCol="0" anchor="t">
            <a:normAutofit/>
          </a:bodyPr>
          <a:lstStyle/>
          <a:p>
            <a:pPr algn="l" indent="0" marL="0">
              <a:buNone/>
            </a:pPr>
            <a:r>
              <a:rPr lang="en-US" sz="1350" dirty="0">
                <a:solidFill>
                  <a:srgbClr val="54657A"/>
                </a:solidFill>
                <a:latin typeface="Arial" pitchFamily="34" charset="0"/>
                <a:ea typeface="Arial" pitchFamily="34" charset="-122"/>
                <a:cs typeface="Arial" pitchFamily="34" charset="-120"/>
              </a:rPr>
              <a:t>Đo và so sánh</a:t>
            </a:r>
            <a:endParaRPr lang="en-US" sz="1350" dirty="0"/>
          </a:p>
          <a:p>
            <a:pPr algn="l" indent="0" marL="0">
              <a:buNone/>
            </a:pPr>
            <a:r>
              <a:rPr lang="en-US" sz="1350" dirty="0">
                <a:solidFill>
                  <a:srgbClr val="54657A"/>
                </a:solidFill>
                <a:latin typeface="Arial" pitchFamily="34" charset="0"/>
                <a:ea typeface="Arial" pitchFamily="34" charset="-122"/>
                <a:cs typeface="Arial" pitchFamily="34" charset="-120"/>
              </a:rPr>
              <a:t>Phân tích giới hạn</a:t>
            </a:r>
            <a:endParaRPr lang="en-US" sz="1350" dirty="0"/>
          </a:p>
          <a:p>
            <a:pPr algn="l" indent="0" marL="0">
              <a:buNone/>
            </a:pPr>
            <a:r>
              <a:rPr lang="en-US" sz="1350" dirty="0">
                <a:solidFill>
                  <a:srgbClr val="54657A"/>
                </a:solidFill>
                <a:latin typeface="Arial" pitchFamily="34" charset="0"/>
                <a:ea typeface="Arial" pitchFamily="34" charset="-122"/>
                <a:cs typeface="Arial" pitchFamily="34" charset="-120"/>
              </a:rPr>
              <a:t>Viết báo cáo</a:t>
            </a:r>
            <a:endParaRPr lang="en-US" sz="1350" dirty="0"/>
          </a:p>
        </p:txBody>
      </p:sp>
      <p:sp>
        <p:nvSpPr>
          <p:cNvPr id="25" name="Shape 23"/>
          <p:cNvSpPr/>
          <p:nvPr/>
        </p:nvSpPr>
        <p:spPr>
          <a:xfrm>
            <a:off x="781050" y="5219700"/>
            <a:ext cx="10553700" cy="609600"/>
          </a:xfrm>
          <a:prstGeom prst="roundRect">
            <a:avLst/>
          </a:prstGeom>
          <a:solidFill>
            <a:srgbClr val="0B1730"/>
          </a:solidFill>
          <a:ln w="12700">
            <a:solidFill>
              <a:srgbClr val="FFFFFF">
                <a:alpha val="0"/>
              </a:srgbClr>
            </a:solidFill>
            <a:prstDash val="solid"/>
          </a:ln>
        </p:spPr>
      </p:sp>
      <p:sp>
        <p:nvSpPr>
          <p:cNvPr id="26" name="Text 24"/>
          <p:cNvSpPr/>
          <p:nvPr/>
        </p:nvSpPr>
        <p:spPr>
          <a:xfrm>
            <a:off x="1009650" y="5400675"/>
            <a:ext cx="10096500" cy="247650"/>
          </a:xfrm>
          <a:prstGeom prst="rect">
            <a:avLst/>
          </a:prstGeom>
          <a:noFill/>
          <a:ln/>
        </p:spPr>
        <p:txBody>
          <a:bodyPr wrap="square" lIns="0" tIns="0" rIns="0" bIns="0" rtlCol="0" anchor="t">
            <a:normAutofit/>
          </a:bodyPr>
          <a:lstStyle/>
          <a:p>
            <a:pPr algn="l" indent="0" marL="0">
              <a:buNone/>
            </a:pPr>
            <a:r>
              <a:rPr lang="en-US" sz="1275" b="1" dirty="0">
                <a:solidFill>
                  <a:srgbClr val="FFFFFF"/>
                </a:solidFill>
                <a:latin typeface="Arial" pitchFamily="34" charset="0"/>
                <a:ea typeface="Arial" pitchFamily="34" charset="-122"/>
                <a:cs typeface="Arial" pitchFamily="34" charset="-120"/>
              </a:rPr>
              <a:t>Phân công theo chuyên môn: dữ liệu và bảo mật  ·  mô hình AI  ·  tích hợp hệ thống  ·  thực nghiệm và báo cáo</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730"/>
        </a:solidFill>
      </p:bgPr>
    </p:bg>
    <p:spTree>
      <p:nvGrpSpPr>
        <p:cNvPr id="1" name=""/>
        <p:cNvGrpSpPr/>
        <p:nvPr/>
      </p:nvGrpSpPr>
      <p:grpSpPr>
        <a:xfrm>
          <a:off x="0" y="0"/>
          <a:ext cx="0" cy="0"/>
          <a:chOff x="0" y="0"/>
          <a:chExt cx="0" cy="0"/>
        </a:xfrm>
      </p:grpSpPr>
      <p:sp>
        <p:nvSpPr>
          <p:cNvPr id="2" name="Shape 0"/>
          <p:cNvSpPr/>
          <p:nvPr/>
        </p:nvSpPr>
        <p:spPr>
          <a:xfrm>
            <a:off x="723900" y="762000"/>
            <a:ext cx="838200" cy="57150"/>
          </a:xfrm>
          <a:prstGeom prst="rect">
            <a:avLst/>
          </a:prstGeom>
          <a:solidFill>
            <a:srgbClr val="42C7D9"/>
          </a:solidFill>
          <a:ln w="12700">
            <a:solidFill>
              <a:srgbClr val="FFFFFF">
                <a:alpha val="0"/>
              </a:srgbClr>
            </a:solidFill>
            <a:prstDash val="solid"/>
          </a:ln>
        </p:spPr>
      </p:sp>
      <p:sp>
        <p:nvSpPr>
          <p:cNvPr id="3" name="Text 1"/>
          <p:cNvSpPr/>
          <p:nvPr/>
        </p:nvSpPr>
        <p:spPr>
          <a:xfrm>
            <a:off x="723900" y="1162050"/>
            <a:ext cx="6191250" cy="628650"/>
          </a:xfrm>
          <a:prstGeom prst="rect">
            <a:avLst/>
          </a:prstGeom>
          <a:noFill/>
          <a:ln/>
        </p:spPr>
        <p:txBody>
          <a:bodyPr wrap="square" lIns="0" tIns="0" rIns="0" bIns="0" rtlCol="0" anchor="t">
            <a:normAutofit/>
          </a:bodyPr>
          <a:lstStyle/>
          <a:p>
            <a:pPr algn="l" indent="0" marL="0">
              <a:buNone/>
            </a:pPr>
            <a:r>
              <a:rPr lang="en-US" sz="3150" b="1" dirty="0">
                <a:solidFill>
                  <a:srgbClr val="FFFFFF"/>
                </a:solidFill>
                <a:latin typeface="Arial" pitchFamily="34" charset="0"/>
                <a:ea typeface="Arial" pitchFamily="34" charset="-122"/>
                <a:cs typeface="Arial" pitchFamily="34" charset="-120"/>
              </a:rPr>
              <a:t>Tóm lại</a:t>
            </a:r>
            <a:endParaRPr lang="en-US" sz="3150" dirty="0"/>
          </a:p>
        </p:txBody>
      </p:sp>
      <p:sp>
        <p:nvSpPr>
          <p:cNvPr id="4" name="Text 2"/>
          <p:cNvSpPr/>
          <p:nvPr/>
        </p:nvSpPr>
        <p:spPr>
          <a:xfrm>
            <a:off x="723900" y="2095500"/>
            <a:ext cx="10191750" cy="971550"/>
          </a:xfrm>
          <a:prstGeom prst="rect">
            <a:avLst/>
          </a:prstGeom>
          <a:noFill/>
          <a:ln/>
        </p:spPr>
        <p:txBody>
          <a:bodyPr wrap="square" lIns="0" tIns="0" rIns="0" bIns="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Nhóm dự định xây dựng một quy trình tuyển dụng có AI chạy cục bộ,</a:t>
            </a:r>
            <a:endParaRPr lang="en-US" sz="2100" dirty="0"/>
          </a:p>
          <a:p>
            <a:pPr algn="l" indent="0" marL="0">
              <a:buNone/>
            </a:pPr>
            <a:r>
              <a:rPr lang="en-US" sz="2100" b="1" dirty="0">
                <a:solidFill>
                  <a:srgbClr val="FFFFFF"/>
                </a:solidFill>
                <a:latin typeface="Arial" pitchFamily="34" charset="0"/>
                <a:ea typeface="Arial" pitchFamily="34" charset="-122"/>
                <a:cs typeface="Arial" pitchFamily="34" charset="-120"/>
              </a:rPr>
              <a:t>từ lọc CV đến đánh giá và luyện phỏng vấn.</a:t>
            </a:r>
            <a:endParaRPr lang="en-US" sz="2100" dirty="0"/>
          </a:p>
        </p:txBody>
      </p:sp>
      <p:sp>
        <p:nvSpPr>
          <p:cNvPr id="5" name="Shape 3"/>
          <p:cNvSpPr/>
          <p:nvPr/>
        </p:nvSpPr>
        <p:spPr>
          <a:xfrm>
            <a:off x="723900" y="3486150"/>
            <a:ext cx="10287000" cy="0"/>
          </a:xfrm>
          <a:prstGeom prst="line">
            <a:avLst/>
          </a:prstGeom>
          <a:solidFill>
            <a:srgbClr val="FFFFFF">
              <a:alpha val="0"/>
            </a:srgbClr>
          </a:solidFill>
          <a:ln w="132">
            <a:solidFill>
              <a:srgbClr val="36506F"/>
            </a:solidFill>
            <a:prstDash val="solid"/>
          </a:ln>
        </p:spPr>
      </p:sp>
      <p:sp>
        <p:nvSpPr>
          <p:cNvPr id="6" name="Text 4"/>
          <p:cNvSpPr/>
          <p:nvPr/>
        </p:nvSpPr>
        <p:spPr>
          <a:xfrm>
            <a:off x="723900" y="3829050"/>
            <a:ext cx="4191000" cy="209550"/>
          </a:xfrm>
          <a:prstGeom prst="rect">
            <a:avLst/>
          </a:prstGeom>
          <a:noFill/>
          <a:ln/>
        </p:spPr>
        <p:txBody>
          <a:bodyPr wrap="square" lIns="0" tIns="0" rIns="0" bIns="0" rtlCol="0" anchor="t">
            <a:normAutofit/>
          </a:bodyPr>
          <a:lstStyle/>
          <a:p>
            <a:pPr algn="l" indent="0" marL="0">
              <a:buNone/>
            </a:pPr>
            <a:r>
              <a:rPr lang="en-US" sz="1050" b="1" dirty="0">
                <a:solidFill>
                  <a:srgbClr val="42C7D9"/>
                </a:solidFill>
                <a:latin typeface="Arial" pitchFamily="34" charset="0"/>
                <a:ea typeface="Arial" pitchFamily="34" charset="-122"/>
                <a:cs typeface="Arial" pitchFamily="34" charset="-120"/>
              </a:rPr>
              <a:t>CẦN XIN Ý KIẾN THẦY CÔ</a:t>
            </a:r>
            <a:endParaRPr lang="en-US" sz="1050" dirty="0"/>
          </a:p>
        </p:txBody>
      </p:sp>
      <p:sp>
        <p:nvSpPr>
          <p:cNvPr id="7" name="Text 5"/>
          <p:cNvSpPr/>
          <p:nvPr/>
        </p:nvSpPr>
        <p:spPr>
          <a:xfrm>
            <a:off x="723900" y="4276725"/>
            <a:ext cx="9810750" cy="304800"/>
          </a:xfrm>
          <a:prstGeom prst="rect">
            <a:avLst/>
          </a:prstGeom>
          <a:noFill/>
          <a:ln/>
        </p:spPr>
        <p:txBody>
          <a:bodyPr wrap="square" lIns="0" tIns="0" rIns="0" bIns="0" rtlCol="0" anchor="t">
            <a:normAutofit/>
          </a:bodyPr>
          <a:lstStyle/>
          <a:p>
            <a:pPr algn="l" indent="0" marL="0">
              <a:buNone/>
            </a:pPr>
            <a:r>
              <a:rPr lang="en-US" sz="1500" dirty="0">
                <a:solidFill>
                  <a:srgbClr val="FFFFFF"/>
                </a:solidFill>
                <a:latin typeface="Arial" pitchFamily="34" charset="0"/>
                <a:ea typeface="Arial" pitchFamily="34" charset="-122"/>
                <a:cs typeface="Arial" pitchFamily="34" charset="-120"/>
              </a:rPr>
              <a:t>01  Phạm vi ba mô-đun có phù hợp với thời lượng đề tài?</a:t>
            </a:r>
            <a:endParaRPr lang="en-US" sz="1500" dirty="0"/>
          </a:p>
        </p:txBody>
      </p:sp>
      <p:sp>
        <p:nvSpPr>
          <p:cNvPr id="8" name="Text 6"/>
          <p:cNvSpPr/>
          <p:nvPr/>
        </p:nvSpPr>
        <p:spPr>
          <a:xfrm>
            <a:off x="723900" y="4752975"/>
            <a:ext cx="9810750" cy="304800"/>
          </a:xfrm>
          <a:prstGeom prst="rect">
            <a:avLst/>
          </a:prstGeom>
          <a:noFill/>
          <a:ln/>
        </p:spPr>
        <p:txBody>
          <a:bodyPr wrap="square" lIns="0" tIns="0" rIns="0" bIns="0" rtlCol="0" anchor="t">
            <a:normAutofit/>
          </a:bodyPr>
          <a:lstStyle/>
          <a:p>
            <a:pPr algn="l" indent="0" marL="0">
              <a:buNone/>
            </a:pPr>
            <a:r>
              <a:rPr lang="en-US" sz="1500" dirty="0">
                <a:solidFill>
                  <a:srgbClr val="FFFFFF"/>
                </a:solidFill>
                <a:latin typeface="Arial" pitchFamily="34" charset="0"/>
                <a:ea typeface="Arial" pitchFamily="34" charset="-122"/>
                <a:cs typeface="Arial" pitchFamily="34" charset="-120"/>
              </a:rPr>
              <a:t>02  Bộ dữ liệu và cách đánh giá nào cần ưu tiên?</a:t>
            </a:r>
            <a:endParaRPr lang="en-US" sz="1500" dirty="0"/>
          </a:p>
        </p:txBody>
      </p:sp>
      <p:sp>
        <p:nvSpPr>
          <p:cNvPr id="9" name="Text 7"/>
          <p:cNvSpPr/>
          <p:nvPr/>
        </p:nvSpPr>
        <p:spPr>
          <a:xfrm>
            <a:off x="723900" y="5229225"/>
            <a:ext cx="10287000" cy="304800"/>
          </a:xfrm>
          <a:prstGeom prst="rect">
            <a:avLst/>
          </a:prstGeom>
          <a:noFill/>
          <a:ln/>
        </p:spPr>
        <p:txBody>
          <a:bodyPr wrap="square" lIns="0" tIns="0" rIns="0" bIns="0" rtlCol="0" anchor="t">
            <a:normAutofit/>
          </a:bodyPr>
          <a:lstStyle/>
          <a:p>
            <a:pPr algn="l" indent="0" marL="0">
              <a:buNone/>
            </a:pPr>
            <a:r>
              <a:rPr lang="en-US" sz="1500" dirty="0">
                <a:solidFill>
                  <a:srgbClr val="FFFFFF"/>
                </a:solidFill>
                <a:latin typeface="Arial" pitchFamily="34" charset="0"/>
                <a:ea typeface="Arial" pitchFamily="34" charset="-122"/>
                <a:cs typeface="Arial" pitchFamily="34" charset="-120"/>
              </a:rPr>
              <a:t>03  Cấu hình mô hình cục bộ nên giới hạn theo thiết bị nào?</a:t>
            </a:r>
            <a:endParaRPr lang="en-US" sz="1500" dirty="0"/>
          </a:p>
        </p:txBody>
      </p:sp>
      <p:sp>
        <p:nvSpPr>
          <p:cNvPr id="10" name="Text 8"/>
          <p:cNvSpPr/>
          <p:nvPr/>
        </p:nvSpPr>
        <p:spPr>
          <a:xfrm>
            <a:off x="723900" y="5943600"/>
            <a:ext cx="8096250" cy="285750"/>
          </a:xfrm>
          <a:prstGeom prst="rect">
            <a:avLst/>
          </a:prstGeom>
          <a:noFill/>
          <a:ln/>
        </p:spPr>
        <p:txBody>
          <a:bodyPr wrap="square" lIns="0" tIns="0" rIns="0" bIns="0" rtlCol="0" anchor="t">
            <a:normAutofit/>
          </a:bodyPr>
          <a:lstStyle/>
          <a:p>
            <a:pPr algn="l" indent="0" marL="0">
              <a:buNone/>
            </a:pPr>
            <a:r>
              <a:rPr lang="en-US" sz="1425" b="1" dirty="0">
                <a:solidFill>
                  <a:srgbClr val="A9C5E2"/>
                </a:solidFill>
                <a:latin typeface="Arial" pitchFamily="34" charset="0"/>
                <a:ea typeface="Arial" pitchFamily="34" charset="-122"/>
                <a:cs typeface="Arial" pitchFamily="34" charset="-120"/>
              </a:rPr>
              <a:t>Cảm ơn thầy cô. Nhóm mong nhận được góp ý.</a:t>
            </a:r>
            <a:endParaRPr lang="en-US" sz="1425" dirty="0"/>
          </a:p>
        </p:txBody>
      </p:sp>
      <p:sp>
        <p:nvSpPr>
          <p:cNvPr id="11" name="Text 9"/>
          <p:cNvSpPr/>
          <p:nvPr/>
        </p:nvSpPr>
        <p:spPr>
          <a:xfrm>
            <a:off x="8143875" y="6391275"/>
            <a:ext cx="3324225" cy="190500"/>
          </a:xfrm>
          <a:prstGeom prst="rect">
            <a:avLst/>
          </a:prstGeom>
          <a:noFill/>
          <a:ln/>
        </p:spPr>
        <p:txBody>
          <a:bodyPr wrap="square" lIns="0" tIns="0" rIns="0" bIns="0" rtlCol="0" anchor="t">
            <a:normAutofit/>
          </a:bodyPr>
          <a:lstStyle/>
          <a:p>
            <a:pPr algn="r" indent="0" marL="0">
              <a:buNone/>
            </a:pPr>
            <a:r>
              <a:rPr lang="en-US" sz="975" dirty="0">
                <a:solidFill>
                  <a:srgbClr val="42C7D9"/>
                </a:solidFill>
                <a:latin typeface="Arial" pitchFamily="34" charset="0"/>
                <a:ea typeface="Arial" pitchFamily="34" charset="-122"/>
                <a:cs typeface="Arial" pitchFamily="34" charset="-120"/>
              </a:rPr>
              <a:t>18/10/2026  ·  19:00  ·  Google Meet</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SmartCV AI</dc:title>
  <dc:subject>Đề xuất nghiên cứu khoa học</dc:subject>
  <dc:creator>Nhóm SmartCV AI</dc:creator>
  <cp:lastModifiedBy>Nhóm SmartCV AI</cp:lastModifiedBy>
  <cp:revision>1</cp:revision>
  <dcterms:created xsi:type="dcterms:W3CDTF">2026-10-17T02:34:06Z</dcterms:created>
  <dcterms:modified xsi:type="dcterms:W3CDTF">2026-10-17T02:34:06Z</dcterms:modified>
</cp:coreProperties>
</file>